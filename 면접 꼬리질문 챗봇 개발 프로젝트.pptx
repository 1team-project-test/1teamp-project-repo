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embedTrueTypeFonts="true">
  <p:sldMasterIdLst>
    <p:sldMasterId id="2147483648" r:id="rId1"/>
  </p:sldMasterIdLst>
  <p:sldIdLst>
    <p:sldId id="256" r:id="rId6"/>
    <p:sldId id="257" r:id="rId7"/>
    <p:sldId id="258" r:id="rId8"/>
    <p:sldId id="259" r:id="rId9"/>
    <p:sldId id="260" r:id="rId10"/>
    <p:sldId id="261" r:id="rId11"/>
  </p:sldIdLst>
  <p:sldSz cx="24384000" cy="13716000"/>
  <p:notesSz cx="6858000" cy="9144000"/>
  <p:embeddedFontLst>
    <p:embeddedFont>
      <p:font typeface="Pretendard Bold"/>
      <p:bold r:id="rId12"/>
    </p:embeddedFont>
    <p:embeddedFont>
      <p:font typeface="Pretendard Regular"/>
      <p:regular r:id="rId13"/>
    </p:embeddedFont>
    <p:embeddedFont>
      <p:font typeface="Pretendard Medium"/>
      <p:bold r:id="rId14"/>
    </p:embeddedFont>
    <p:embeddedFont>
      <p:font typeface="Pretendard Light"/>
      <p:regular r:id="rId15"/>
    </p:embeddedFont>
    <p:embeddedFont>
      <p:font typeface="Pretendard SemiBold"/>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fntdata" Type="http://schemas.openxmlformats.org/officeDocument/2006/relationships/font"/><Relationship Id="rId13" Target="fonts/font2.fntdata" Type="http://schemas.openxmlformats.org/officeDocument/2006/relationships/font"/><Relationship Id="rId14" Target="fonts/font3.fntdata" Type="http://schemas.openxmlformats.org/officeDocument/2006/relationships/font"/><Relationship Id="rId15" Target="fonts/font4.fntdata" Type="http://schemas.openxmlformats.org/officeDocument/2006/relationships/font"/><Relationship Id="rId16" Target="fonts/font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slide1.xml><?xml version="1.0" encoding="utf-8"?>
<p:sld xmlns:p="http://schemas.openxmlformats.org/presentationml/2006/main" xmlns:a="http://schemas.openxmlformats.org/drawingml/2006/main">
  <p:cSld>
    <p:bg xmlns:r="http://schemas.openxmlformats.org/officeDocument/2006/relationships">
      <p:bgPr>
        <a:solidFill>
          <a:srgbClr val="FFFFFF"/>
        </a:solidFill>
      </p:bgPr>
    </p:bg>
    <p:spTree xmlns:r="http://schemas.openxmlformats.org/officeDocument/2006/relationships">
      <p:nvGrpSpPr>
        <p:cNvPr id="1" name=""/>
        <p:cNvGrpSpPr/>
        <p:nvPr/>
      </p:nvGrpSpPr>
      <p:grpSpPr>
        <a:xfrm>
          <a:off x="0" y="0"/>
          <a:ext cx="0" cy="0"/>
          <a:chOff x="0" y="0"/>
          <a:chExt cx="0" cy="0"/>
        </a:xfrm>
      </p:grpSpPr>
      <p:sp>
        <p:nvSpPr>
          <p:cNvPr name="TextBox 2" id="2"/>
          <p:cNvSpPr txBox="true"/>
          <p:nvPr/>
        </p:nvSpPr>
        <p:spPr>
          <a:xfrm rot="0">
            <a:off x="1574800" y="5372100"/>
            <a:ext cx="21056600" cy="2133600"/>
          </a:xfrm>
          <a:prstGeom prst="rect">
            <a:avLst/>
          </a:prstGeom>
        </p:spPr>
        <p:txBody>
          <a:bodyPr anchor="ctr" rtlCol="false" lIns="0" tIns="152400" rIns="0" bIns="152400"/>
          <a:lstStyle/>
          <a:p>
            <a:pPr algn="ctr" lvl="0">
              <a:lnSpc>
                <a:spcPct val="99600"/>
              </a:lnSpc>
            </a:pPr>
            <a:r>
              <a:rPr lang="en-US" sz="12000" b="false" i="false" u="none" strike="noStrike">
                <a:solidFill>
                  <a:srgbClr val="0063BA"/>
                </a:solidFill>
                <a:latin typeface="Pretendard Bold"/>
                <a:ea typeface="Pretendard Bold"/>
                <a:cs typeface="Pretendard Bold"/>
              </a:rPr>
              <a:t>면접 꼬리질문 챗봇 개발 프로젝트</a:t>
            </a:r>
          </a:p>
        </p:txBody>
      </p:sp>
      <p:sp>
        <p:nvSpPr>
          <p:cNvPr name="TextBox 3" id="3"/>
          <p:cNvSpPr txBox="true"/>
          <p:nvPr/>
        </p:nvSpPr>
        <p:spPr>
          <a:xfrm rot="0">
            <a:off x="1752600" y="8648700"/>
            <a:ext cx="20726400" cy="571500"/>
          </a:xfrm>
          <a:prstGeom prst="rect">
            <a:avLst/>
          </a:prstGeom>
        </p:spPr>
        <p:txBody>
          <a:bodyPr anchor="t" rtlCol="false" lIns="0" tIns="40640" rIns="0" bIns="0"/>
          <a:lstStyle/>
          <a:p>
            <a:pPr algn="ctr" lvl="0">
              <a:lnSpc>
                <a:spcPct val="99600"/>
              </a:lnSpc>
            </a:pPr>
            <a:r>
              <a:rPr lang="en-US" sz="3200" b="false" i="false" u="none" strike="noStrike" spc="-100">
                <a:solidFill>
                  <a:srgbClr val="000000"/>
                </a:solidFill>
                <a:latin typeface="Pretendard Regular"/>
                <a:ea typeface="Pretendard Regular"/>
                <a:cs typeface="Pretendard Regular"/>
              </a:rPr>
              <a:t>생성형 AI 기반 맞춤형 면접 연습 서비스</a:t>
            </a:r>
          </a:p>
        </p:txBody>
      </p:sp>
      <p:pic>
        <p:nvPicPr>
          <p:cNvPr name="Picture 4" id="4"/>
          <p:cNvPicPr>
            <a:picLocks noChangeAspect="true"/>
          </p:cNvPicPr>
          <p:nvPr/>
        </p:nvPicPr>
        <p:blipFill>
          <a:blip r:embed="rId2"/>
          <a:stretch>
            <a:fillRect/>
          </a:stretch>
        </p:blipFill>
        <p:spPr>
          <a:xfrm rot="0">
            <a:off x="0" y="0"/>
            <a:ext cx="4419600" cy="419100"/>
          </a:xfrm>
          <a:prstGeom prst="rect">
            <a:avLst/>
          </a:prstGeom>
        </p:spPr>
      </p:pic>
      <p:pic>
        <p:nvPicPr>
          <p:cNvPr name="Picture 5" id="5"/>
          <p:cNvPicPr>
            <a:picLocks noChangeAspect="true"/>
          </p:cNvPicPr>
          <p:nvPr/>
        </p:nvPicPr>
        <p:blipFill>
          <a:blip r:embed="rId3"/>
          <a:stretch>
            <a:fillRect/>
          </a:stretch>
        </p:blipFill>
        <p:spPr>
          <a:xfrm rot="0">
            <a:off x="4419600" y="0"/>
            <a:ext cx="19964400" cy="419100"/>
          </a:xfrm>
          <a:prstGeom prst="rect">
            <a:avLst/>
          </a:prstGeom>
        </p:spPr>
      </p:pic>
      <p:pic>
        <p:nvPicPr>
          <p:cNvPr name="Picture 6" id="6"/>
          <p:cNvPicPr>
            <a:picLocks noChangeAspect="true"/>
          </p:cNvPicPr>
          <p:nvPr/>
        </p:nvPicPr>
        <p:blipFill>
          <a:blip r:embed="rId4"/>
          <a:stretch>
            <a:fillRect/>
          </a:stretch>
        </p:blipFill>
        <p:spPr>
          <a:xfrm rot="0">
            <a:off x="927100" y="12776200"/>
            <a:ext cx="22542500" cy="254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p:cSld>
    <p:bg xmlns:r="http://schemas.openxmlformats.org/officeDocument/2006/relationships">
      <p:bgPr>
        <a:solidFill>
          <a:srgbClr val="FFFFFF"/>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0" y="0"/>
            <a:ext cx="4419600" cy="419100"/>
          </a:xfrm>
          <a:prstGeom prst="rect">
            <a:avLst/>
          </a:prstGeom>
        </p:spPr>
      </p:pic>
      <p:pic>
        <p:nvPicPr>
          <p:cNvPr name="Picture 3" id="3"/>
          <p:cNvPicPr>
            <a:picLocks noChangeAspect="true"/>
          </p:cNvPicPr>
          <p:nvPr/>
        </p:nvPicPr>
        <p:blipFill>
          <a:blip r:embed="rId3"/>
          <a:stretch>
            <a:fillRect/>
          </a:stretch>
        </p:blipFill>
        <p:spPr>
          <a:xfrm rot="0">
            <a:off x="4419600" y="0"/>
            <a:ext cx="19964400" cy="419100"/>
          </a:xfrm>
          <a:prstGeom prst="rect">
            <a:avLst/>
          </a:prstGeom>
        </p:spPr>
      </p:pic>
      <p:sp>
        <p:nvSpPr>
          <p:cNvPr name="TextBox 4" id="4"/>
          <p:cNvSpPr txBox="true"/>
          <p:nvPr/>
        </p:nvSpPr>
        <p:spPr>
          <a:xfrm rot="0">
            <a:off x="901700" y="1130300"/>
            <a:ext cx="22783800" cy="977900"/>
          </a:xfrm>
          <a:prstGeom prst="rect">
            <a:avLst/>
          </a:prstGeom>
        </p:spPr>
        <p:txBody>
          <a:bodyPr anchor="ctr" rtlCol="false" lIns="0" tIns="69427" rIns="0" bIns="69427"/>
          <a:lstStyle/>
          <a:p>
            <a:pPr algn="l" lvl="0">
              <a:lnSpc>
                <a:spcPct val="99600"/>
              </a:lnSpc>
            </a:pPr>
            <a:r>
              <a:rPr lang="en-US" sz="5466" b="false" i="false" u="none" strike="noStrike">
                <a:solidFill>
                  <a:srgbClr val="0063BA"/>
                </a:solidFill>
                <a:latin typeface="Pretendard Bold"/>
                <a:ea typeface="Pretendard Bold"/>
                <a:cs typeface="Pretendard Bold"/>
              </a:rPr>
              <a:t>목차</a:t>
            </a:r>
          </a:p>
        </p:txBody>
      </p:sp>
      <p:sp>
        <p:nvSpPr>
          <p:cNvPr name="TextBox 5" id="5"/>
          <p:cNvSpPr txBox="true"/>
          <p:nvPr/>
        </p:nvSpPr>
        <p:spPr>
          <a:xfrm rot="0">
            <a:off x="3543300" y="6235700"/>
            <a:ext cx="7442200" cy="1498600"/>
          </a:xfrm>
          <a:prstGeom prst="rect">
            <a:avLst/>
          </a:prstGeom>
        </p:spPr>
        <p:txBody>
          <a:bodyPr anchor="t" rtlCol="false" lIns="0" tIns="0" rIns="0" bIns="0"/>
          <a:lstStyle/>
          <a:p>
            <a:pPr algn="l" lvl="0">
              <a:lnSpc>
                <a:spcPct val="116199"/>
              </a:lnSpc>
            </a:pPr>
            <a:r>
              <a:rPr lang="en-US" sz="2800" b="false" i="false" u="none" strike="noStrike">
                <a:solidFill>
                  <a:srgbClr val="000000"/>
                </a:solidFill>
                <a:latin typeface="Pretendard Light"/>
                <a:ea typeface="Pretendard Light"/>
                <a:cs typeface="Pretendard Light"/>
              </a:rPr>
              <a:t>- 기업의 꼬리질문 중심 심층 면접 강화</a:t>
            </a:r>
          </a:p>
          <a:p>
            <a:pPr algn="l" lvl="0">
              <a:lnSpc>
                <a:spcPct val="116199"/>
              </a:lnSpc>
            </a:pPr>
            <a:r>
              <a:rPr lang="en-US" sz="2800" b="false" i="false" u="none" strike="noStrike">
                <a:solidFill>
                  <a:srgbClr val="000000"/>
                </a:solidFill>
                <a:latin typeface="Pretendard Light"/>
                <a:ea typeface="Pretendard Light"/>
                <a:cs typeface="Pretendard Light"/>
              </a:rPr>
              <a:t>- 취업 준비생의 연습 환경 부족</a:t>
            </a:r>
          </a:p>
          <a:p>
            <a:pPr algn="l" lvl="0">
              <a:lnSpc>
                <a:spcPct val="116199"/>
              </a:lnSpc>
            </a:pPr>
            <a:r>
              <a:rPr lang="en-US" sz="2800" b="false" i="false" u="none" strike="noStrike">
                <a:solidFill>
                  <a:srgbClr val="000000"/>
                </a:solidFill>
                <a:latin typeface="Pretendard Light"/>
                <a:ea typeface="Pretendard Light"/>
                <a:cs typeface="Pretendard Light"/>
              </a:rPr>
              <a:t>- 생성형 AI 활용 서비스 개발 필요성</a:t>
            </a:r>
          </a:p>
        </p:txBody>
      </p:sp>
      <p:sp>
        <p:nvSpPr>
          <p:cNvPr name="TextBox 6" id="6"/>
          <p:cNvSpPr txBox="true"/>
          <p:nvPr/>
        </p:nvSpPr>
        <p:spPr>
          <a:xfrm rot="0">
            <a:off x="3517900" y="5130800"/>
            <a:ext cx="7467600" cy="635000"/>
          </a:xfrm>
          <a:prstGeom prst="rect">
            <a:avLst/>
          </a:prstGeom>
        </p:spPr>
        <p:txBody>
          <a:bodyPr anchor="ctr" rtlCol="false" lIns="0" tIns="0" rIns="0" bIns="0"/>
          <a:lstStyle/>
          <a:p>
            <a:pPr algn="l" lvl="0">
              <a:lnSpc>
                <a:spcPct val="116199"/>
              </a:lnSpc>
            </a:pPr>
            <a:r>
              <a:rPr lang="en-US" sz="3600" b="false" i="false" u="none" strike="noStrike">
                <a:solidFill>
                  <a:srgbClr val="0063BA"/>
                </a:solidFill>
                <a:latin typeface="Pretendard Bold"/>
                <a:ea typeface="Pretendard Bold"/>
                <a:cs typeface="Pretendard Bold"/>
              </a:rPr>
              <a:t>주제 선정 배경</a:t>
            </a:r>
          </a:p>
        </p:txBody>
      </p:sp>
      <p:sp>
        <p:nvSpPr>
          <p:cNvPr name="TextBox 7" id="7"/>
          <p:cNvSpPr txBox="true"/>
          <p:nvPr/>
        </p:nvSpPr>
        <p:spPr>
          <a:xfrm rot="0">
            <a:off x="2743200" y="5130800"/>
            <a:ext cx="736600" cy="635000"/>
          </a:xfrm>
          <a:prstGeom prst="rect">
            <a:avLst/>
          </a:prstGeom>
        </p:spPr>
        <p:txBody>
          <a:bodyPr anchor="ctr" rtlCol="false" lIns="0" tIns="0" rIns="0" bIns="0"/>
          <a:lstStyle/>
          <a:p>
            <a:pPr algn="l" lvl="0">
              <a:lnSpc>
                <a:spcPct val="116199"/>
              </a:lnSpc>
            </a:pPr>
            <a:r>
              <a:rPr lang="en-US" sz="3600" b="false" i="false" u="none" strike="noStrike">
                <a:solidFill>
                  <a:srgbClr val="AACBE9"/>
                </a:solidFill>
                <a:latin typeface="Pretendard Medium"/>
                <a:ea typeface="Pretendard Medium"/>
                <a:cs typeface="Pretendard Medium"/>
              </a:rPr>
              <a:t>01</a:t>
            </a:r>
          </a:p>
        </p:txBody>
      </p:sp>
      <p:sp>
        <p:nvSpPr>
          <p:cNvPr name="TextBox 8" id="8"/>
          <p:cNvSpPr txBox="true"/>
          <p:nvPr/>
        </p:nvSpPr>
        <p:spPr>
          <a:xfrm rot="0">
            <a:off x="3543300" y="10223500"/>
            <a:ext cx="7442200" cy="1498600"/>
          </a:xfrm>
          <a:prstGeom prst="rect">
            <a:avLst/>
          </a:prstGeom>
        </p:spPr>
        <p:txBody>
          <a:bodyPr anchor="t" rtlCol="false" lIns="0" tIns="0" rIns="0" bIns="0"/>
          <a:lstStyle/>
          <a:p>
            <a:pPr algn="l" lvl="0">
              <a:lnSpc>
                <a:spcPct val="116199"/>
              </a:lnSpc>
            </a:pPr>
            <a:r>
              <a:rPr lang="en-US" sz="2800" b="false" i="false" u="none" strike="noStrike">
                <a:solidFill>
                  <a:srgbClr val="000000"/>
                </a:solidFill>
                <a:latin typeface="Pretendard Light"/>
                <a:ea typeface="Pretendard Light"/>
                <a:cs typeface="Pretendard Light"/>
              </a:rPr>
              <a:t>- 실전 면접 대응력 향상</a:t>
            </a:r>
          </a:p>
          <a:p>
            <a:pPr algn="l" lvl="0">
              <a:lnSpc>
                <a:spcPct val="116199"/>
              </a:lnSpc>
            </a:pPr>
            <a:r>
              <a:rPr lang="en-US" sz="2800" b="false" i="false" u="none" strike="noStrike">
                <a:solidFill>
                  <a:srgbClr val="000000"/>
                </a:solidFill>
                <a:latin typeface="Pretendard Light"/>
                <a:ea typeface="Pretendard Light"/>
                <a:cs typeface="Pretendard Light"/>
              </a:rPr>
              <a:t>- TTS 음성과 키보드 타이핑 방식</a:t>
            </a:r>
          </a:p>
          <a:p>
            <a:pPr algn="l" lvl="0">
              <a:lnSpc>
                <a:spcPct val="116199"/>
              </a:lnSpc>
            </a:pPr>
            <a:r>
              <a:rPr lang="en-US" sz="2800" b="false" i="false" u="none" strike="noStrike">
                <a:solidFill>
                  <a:srgbClr val="000000"/>
                </a:solidFill>
                <a:latin typeface="Pretendard Light"/>
                <a:ea typeface="Pretendard Light"/>
                <a:cs typeface="Pretendard Light"/>
              </a:rPr>
              <a:t>- 실시간 피드백 제공</a:t>
            </a:r>
          </a:p>
        </p:txBody>
      </p:sp>
      <p:sp>
        <p:nvSpPr>
          <p:cNvPr name="TextBox 9" id="9"/>
          <p:cNvSpPr txBox="true"/>
          <p:nvPr/>
        </p:nvSpPr>
        <p:spPr>
          <a:xfrm rot="0">
            <a:off x="3543300" y="9131300"/>
            <a:ext cx="7467600" cy="635000"/>
          </a:xfrm>
          <a:prstGeom prst="rect">
            <a:avLst/>
          </a:prstGeom>
        </p:spPr>
        <p:txBody>
          <a:bodyPr anchor="ctr" rtlCol="false" lIns="0" tIns="0" rIns="0" bIns="0"/>
          <a:lstStyle/>
          <a:p>
            <a:pPr algn="l" lvl="0">
              <a:lnSpc>
                <a:spcPct val="116199"/>
              </a:lnSpc>
            </a:pPr>
            <a:r>
              <a:rPr lang="en-US" sz="3600" b="false" i="false" u="none" strike="noStrike">
                <a:solidFill>
                  <a:srgbClr val="0063BA"/>
                </a:solidFill>
                <a:latin typeface="Pretendard Bold"/>
                <a:ea typeface="Pretendard Bold"/>
                <a:cs typeface="Pretendard Bold"/>
              </a:rPr>
              <a:t>기대 효과 및 차별점</a:t>
            </a:r>
          </a:p>
        </p:txBody>
      </p:sp>
      <p:sp>
        <p:nvSpPr>
          <p:cNvPr name="TextBox 10" id="10"/>
          <p:cNvSpPr txBox="true"/>
          <p:nvPr/>
        </p:nvSpPr>
        <p:spPr>
          <a:xfrm rot="0">
            <a:off x="2768600" y="9131300"/>
            <a:ext cx="736600" cy="635000"/>
          </a:xfrm>
          <a:prstGeom prst="rect">
            <a:avLst/>
          </a:prstGeom>
        </p:spPr>
        <p:txBody>
          <a:bodyPr anchor="ctr" rtlCol="false" lIns="0" tIns="0" rIns="0" bIns="0"/>
          <a:lstStyle/>
          <a:p>
            <a:pPr algn="l" lvl="0">
              <a:lnSpc>
                <a:spcPct val="116199"/>
              </a:lnSpc>
            </a:pPr>
            <a:r>
              <a:rPr lang="en-US" sz="3600" b="false" i="false" u="none" strike="noStrike">
                <a:solidFill>
                  <a:srgbClr val="AACBE9"/>
                </a:solidFill>
                <a:latin typeface="Pretendard Medium"/>
                <a:ea typeface="Pretendard Medium"/>
                <a:cs typeface="Pretendard Medium"/>
              </a:rPr>
              <a:t>03</a:t>
            </a:r>
          </a:p>
        </p:txBody>
      </p:sp>
      <p:sp>
        <p:nvSpPr>
          <p:cNvPr name="TextBox 11" id="11"/>
          <p:cNvSpPr txBox="true"/>
          <p:nvPr/>
        </p:nvSpPr>
        <p:spPr>
          <a:xfrm rot="0">
            <a:off x="14312900" y="6248400"/>
            <a:ext cx="7442200" cy="1498600"/>
          </a:xfrm>
          <a:prstGeom prst="rect">
            <a:avLst/>
          </a:prstGeom>
        </p:spPr>
        <p:txBody>
          <a:bodyPr anchor="t" rtlCol="false" lIns="0" tIns="0" rIns="0" bIns="0"/>
          <a:lstStyle/>
          <a:p>
            <a:pPr algn="l" lvl="0">
              <a:lnSpc>
                <a:spcPct val="116199"/>
              </a:lnSpc>
            </a:pPr>
            <a:r>
              <a:rPr lang="en-US" sz="2800" b="false" i="false" u="none" strike="noStrike">
                <a:solidFill>
                  <a:srgbClr val="000000"/>
                </a:solidFill>
                <a:latin typeface="Pretendard Light"/>
                <a:ea typeface="Pretendard Light"/>
                <a:cs typeface="Pretendard Light"/>
              </a:rPr>
              <a:t>- ChatGPT의 대화 맥락 기억 메커니즘</a:t>
            </a:r>
          </a:p>
          <a:p>
            <a:pPr algn="l" lvl="0">
              <a:lnSpc>
                <a:spcPct val="116199"/>
              </a:lnSpc>
            </a:pPr>
            <a:r>
              <a:rPr lang="en-US" sz="2800" b="false" i="false" u="none" strike="noStrike">
                <a:solidFill>
                  <a:srgbClr val="000000"/>
                </a:solidFill>
                <a:latin typeface="Pretendard Light"/>
                <a:ea typeface="Pretendard Light"/>
                <a:cs typeface="Pretendard Light"/>
              </a:rPr>
              <a:t>- 사람인 AI 모의 면접의 맞춤형 질문 설계</a:t>
            </a:r>
          </a:p>
          <a:p>
            <a:pPr algn="l" lvl="0">
              <a:lnSpc>
                <a:spcPct val="116199"/>
              </a:lnSpc>
            </a:pPr>
            <a:r>
              <a:rPr lang="en-US" sz="2800" b="false" i="false" u="none" strike="noStrike">
                <a:solidFill>
                  <a:srgbClr val="000000"/>
                </a:solidFill>
                <a:latin typeface="Pretendard Light"/>
                <a:ea typeface="Pretendard Light"/>
                <a:cs typeface="Pretendard Light"/>
              </a:rPr>
              <a:t>- 리포트 시스템 분석</a:t>
            </a:r>
          </a:p>
        </p:txBody>
      </p:sp>
      <p:sp>
        <p:nvSpPr>
          <p:cNvPr name="TextBox 12" id="12"/>
          <p:cNvSpPr txBox="true"/>
          <p:nvPr/>
        </p:nvSpPr>
        <p:spPr>
          <a:xfrm rot="0">
            <a:off x="14287500" y="5143500"/>
            <a:ext cx="7467600" cy="635000"/>
          </a:xfrm>
          <a:prstGeom prst="rect">
            <a:avLst/>
          </a:prstGeom>
        </p:spPr>
        <p:txBody>
          <a:bodyPr anchor="ctr" rtlCol="false" lIns="0" tIns="0" rIns="0" bIns="0"/>
          <a:lstStyle/>
          <a:p>
            <a:pPr algn="l" lvl="0">
              <a:lnSpc>
                <a:spcPct val="116199"/>
              </a:lnSpc>
            </a:pPr>
            <a:r>
              <a:rPr lang="en-US" sz="3600" b="false" i="false" u="none" strike="noStrike">
                <a:solidFill>
                  <a:srgbClr val="0063BA"/>
                </a:solidFill>
                <a:latin typeface="Pretendard Bold"/>
                <a:ea typeface="Pretendard Bold"/>
                <a:cs typeface="Pretendard Bold"/>
              </a:rPr>
              <a:t>벤치마킹 사례</a:t>
            </a:r>
          </a:p>
        </p:txBody>
      </p:sp>
      <p:sp>
        <p:nvSpPr>
          <p:cNvPr name="TextBox 13" id="13"/>
          <p:cNvSpPr txBox="true"/>
          <p:nvPr/>
        </p:nvSpPr>
        <p:spPr>
          <a:xfrm rot="0">
            <a:off x="13512800" y="5130800"/>
            <a:ext cx="736600" cy="635000"/>
          </a:xfrm>
          <a:prstGeom prst="rect">
            <a:avLst/>
          </a:prstGeom>
        </p:spPr>
        <p:txBody>
          <a:bodyPr anchor="ctr" rtlCol="false" lIns="0" tIns="0" rIns="0" bIns="0"/>
          <a:lstStyle/>
          <a:p>
            <a:pPr algn="l" lvl="0">
              <a:lnSpc>
                <a:spcPct val="116199"/>
              </a:lnSpc>
            </a:pPr>
            <a:r>
              <a:rPr lang="en-US" sz="3600" b="false" i="false" u="none" strike="noStrike">
                <a:solidFill>
                  <a:srgbClr val="AACBE9"/>
                </a:solidFill>
                <a:latin typeface="Pretendard Medium"/>
                <a:ea typeface="Pretendard Medium"/>
                <a:cs typeface="Pretendard Medium"/>
              </a:rPr>
              <a:t>02</a:t>
            </a:r>
          </a:p>
        </p:txBody>
      </p:sp>
      <p:sp>
        <p:nvSpPr>
          <p:cNvPr name="TextBox 14" id="14"/>
          <p:cNvSpPr txBox="true"/>
          <p:nvPr/>
        </p:nvSpPr>
        <p:spPr>
          <a:xfrm rot="0">
            <a:off x="14312900" y="10248900"/>
            <a:ext cx="7442200" cy="1498600"/>
          </a:xfrm>
          <a:prstGeom prst="rect">
            <a:avLst/>
          </a:prstGeom>
        </p:spPr>
        <p:txBody>
          <a:bodyPr anchor="t" rtlCol="false" lIns="0" tIns="0" rIns="0" bIns="0"/>
          <a:lstStyle/>
          <a:p>
            <a:pPr algn="l" lvl="0">
              <a:lnSpc>
                <a:spcPct val="116199"/>
              </a:lnSpc>
            </a:pPr>
            <a:r>
              <a:rPr lang="en-US" sz="2800" b="false" i="false" u="none" strike="noStrike">
                <a:solidFill>
                  <a:srgbClr val="000000"/>
                </a:solidFill>
                <a:latin typeface="Pretendard Light"/>
                <a:ea typeface="Pretendard Light"/>
                <a:cs typeface="Pretendard Light"/>
              </a:rPr>
              <a:t>- 사용자 정보 및 문서 관리</a:t>
            </a:r>
          </a:p>
          <a:p>
            <a:pPr algn="l" lvl="0">
              <a:lnSpc>
                <a:spcPct val="116199"/>
              </a:lnSpc>
            </a:pPr>
            <a:r>
              <a:rPr lang="en-US" sz="2800" b="false" i="false" u="none" strike="noStrike">
                <a:solidFill>
                  <a:srgbClr val="000000"/>
                </a:solidFill>
                <a:latin typeface="Pretendard Light"/>
                <a:ea typeface="Pretendard Light"/>
                <a:cs typeface="Pretendard Light"/>
              </a:rPr>
              <a:t>- 면접 이력 및 질문·답변 저장</a:t>
            </a:r>
          </a:p>
          <a:p>
            <a:pPr algn="l" lvl="0">
              <a:lnSpc>
                <a:spcPct val="116199"/>
              </a:lnSpc>
            </a:pPr>
            <a:r>
              <a:rPr lang="en-US" sz="2800" b="false" i="false" u="none" strike="noStrike">
                <a:solidFill>
                  <a:srgbClr val="000000"/>
                </a:solidFill>
                <a:latin typeface="Pretendard Light"/>
                <a:ea typeface="Pretendard Light"/>
                <a:cs typeface="Pretendard Light"/>
              </a:rPr>
              <a:t>- 면접 결과 및 피드백 관리</a:t>
            </a:r>
          </a:p>
        </p:txBody>
      </p:sp>
      <p:sp>
        <p:nvSpPr>
          <p:cNvPr name="TextBox 15" id="15"/>
          <p:cNvSpPr txBox="true"/>
          <p:nvPr/>
        </p:nvSpPr>
        <p:spPr>
          <a:xfrm rot="0">
            <a:off x="14312900" y="9131300"/>
            <a:ext cx="7467600" cy="635000"/>
          </a:xfrm>
          <a:prstGeom prst="rect">
            <a:avLst/>
          </a:prstGeom>
        </p:spPr>
        <p:txBody>
          <a:bodyPr anchor="ctr" rtlCol="false" lIns="0" tIns="0" rIns="0" bIns="0"/>
          <a:lstStyle/>
          <a:p>
            <a:pPr algn="l" lvl="0">
              <a:lnSpc>
                <a:spcPct val="116199"/>
              </a:lnSpc>
            </a:pPr>
            <a:r>
              <a:rPr lang="en-US" sz="3600" b="false" i="false" u="none" strike="noStrike">
                <a:solidFill>
                  <a:srgbClr val="0063BA"/>
                </a:solidFill>
                <a:latin typeface="Pretendard Bold"/>
                <a:ea typeface="Pretendard Bold"/>
                <a:cs typeface="Pretendard Bold"/>
              </a:rPr>
              <a:t>DB 요구사항 분석</a:t>
            </a:r>
          </a:p>
        </p:txBody>
      </p:sp>
      <p:sp>
        <p:nvSpPr>
          <p:cNvPr name="TextBox 16" id="16"/>
          <p:cNvSpPr txBox="true"/>
          <p:nvPr/>
        </p:nvSpPr>
        <p:spPr>
          <a:xfrm rot="0">
            <a:off x="13525500" y="9131300"/>
            <a:ext cx="736600" cy="635000"/>
          </a:xfrm>
          <a:prstGeom prst="rect">
            <a:avLst/>
          </a:prstGeom>
        </p:spPr>
        <p:txBody>
          <a:bodyPr anchor="ctr" rtlCol="false" lIns="0" tIns="0" rIns="0" bIns="0"/>
          <a:lstStyle/>
          <a:p>
            <a:pPr algn="l" lvl="0">
              <a:lnSpc>
                <a:spcPct val="116199"/>
              </a:lnSpc>
            </a:pPr>
            <a:r>
              <a:rPr lang="en-US" sz="3600" b="false" i="false" u="none" strike="noStrike">
                <a:solidFill>
                  <a:srgbClr val="AACBE9"/>
                </a:solidFill>
                <a:latin typeface="Pretendard Medium"/>
                <a:ea typeface="Pretendard Medium"/>
                <a:cs typeface="Pretendard Medium"/>
              </a:rPr>
              <a:t>04</a:t>
            </a:r>
          </a:p>
        </p:txBody>
      </p:sp>
    </p:spTree>
  </p:cSld>
  <p:clrMapOvr>
    <a:masterClrMapping/>
  </p:clrMapOvr>
</p:sld>
</file>

<file path=ppt/slides/slide3.xml><?xml version="1.0" encoding="utf-8"?>
<p:sld xmlns:p="http://schemas.openxmlformats.org/presentationml/2006/main" xmlns:a="http://schemas.openxmlformats.org/drawingml/2006/main">
  <p:cSld>
    <p:bg xmlns:r="http://schemas.openxmlformats.org/officeDocument/2006/relationships">
      <p:bgPr>
        <a:solidFill>
          <a:srgbClr val="FFFFFF"/>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4419600" y="3289300"/>
            <a:ext cx="19075400" cy="1993900"/>
          </a:xfrm>
          <a:prstGeom prst="rect">
            <a:avLst/>
          </a:prstGeom>
        </p:spPr>
      </p:pic>
      <p:sp>
        <p:nvSpPr>
          <p:cNvPr name="TextBox 3" id="3"/>
          <p:cNvSpPr txBox="true"/>
          <p:nvPr/>
        </p:nvSpPr>
        <p:spPr>
          <a:xfrm rot="0">
            <a:off x="10845800" y="5702300"/>
            <a:ext cx="12738100" cy="1498600"/>
          </a:xfrm>
          <a:prstGeom prst="rect">
            <a:avLst/>
          </a:prstGeom>
        </p:spPr>
        <p:txBody>
          <a:bodyPr anchor="ctr"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지원자의 경험과 사고 과정 확인 중시</a:t>
            </a:r>
          </a:p>
          <a:p>
            <a:pPr algn="l" lvl="0">
              <a:lnSpc>
                <a:spcPct val="116199"/>
              </a:lnSpc>
            </a:pPr>
            <a:r>
              <a:rPr lang="en-US" sz="2800" b="false" i="false" u="none" strike="noStrike">
                <a:solidFill>
                  <a:srgbClr val="000000"/>
                </a:solidFill>
                <a:latin typeface="Pretendard Regular"/>
                <a:ea typeface="Pretendard Regular"/>
                <a:cs typeface="Pretendard Regular"/>
              </a:rPr>
              <a:t>- 꼬리질문 중심의 심층 면접 강화</a:t>
            </a:r>
          </a:p>
          <a:p>
            <a:pPr algn="l" lvl="0">
              <a:lnSpc>
                <a:spcPct val="116199"/>
              </a:lnSpc>
            </a:pPr>
            <a:r>
              <a:rPr lang="en-US" sz="2800" b="false" i="false" u="none" strike="noStrike">
                <a:solidFill>
                  <a:srgbClr val="000000"/>
                </a:solidFill>
                <a:latin typeface="Pretendard Regular"/>
                <a:ea typeface="Pretendard Regular"/>
                <a:cs typeface="Pretendard Regular"/>
              </a:rPr>
              <a:t>- 실질적 역량 평가 방식 확대</a:t>
            </a:r>
          </a:p>
        </p:txBody>
      </p:sp>
      <p:sp>
        <p:nvSpPr>
          <p:cNvPr name="TextBox 4" id="4"/>
          <p:cNvSpPr txBox="true"/>
          <p:nvPr/>
        </p:nvSpPr>
        <p:spPr>
          <a:xfrm rot="0">
            <a:off x="4394200" y="6210300"/>
            <a:ext cx="6210300" cy="520700"/>
          </a:xfrm>
          <a:prstGeom prst="rect">
            <a:avLst/>
          </a:prstGeom>
        </p:spPr>
        <p:txBody>
          <a:bodyPr anchor="ctr" rtlCol="false" lIns="0" tIns="0" rIns="0" bIns="0"/>
          <a:lstStyle/>
          <a:p>
            <a:pPr algn="ctr" lvl="0">
              <a:lnSpc>
                <a:spcPct val="116199"/>
              </a:lnSpc>
            </a:pPr>
            <a:r>
              <a:rPr lang="en-US" sz="2933" b="false" i="false" u="none" strike="noStrike">
                <a:solidFill>
                  <a:srgbClr val="000000"/>
                </a:solidFill>
                <a:latin typeface="Pretendard Medium"/>
                <a:ea typeface="Pretendard Medium"/>
                <a:cs typeface="Pretendard Medium"/>
              </a:rPr>
              <a:t>기업의 면접 트렌드 변화</a:t>
            </a:r>
          </a:p>
        </p:txBody>
      </p:sp>
      <p:pic>
        <p:nvPicPr>
          <p:cNvPr name="Picture 5" id="5"/>
          <p:cNvPicPr>
            <a:picLocks noChangeAspect="true"/>
          </p:cNvPicPr>
          <p:nvPr/>
        </p:nvPicPr>
        <p:blipFill>
          <a:blip r:embed="rId3"/>
          <a:stretch>
            <a:fillRect/>
          </a:stretch>
        </p:blipFill>
        <p:spPr>
          <a:xfrm rot="0">
            <a:off x="0" y="0"/>
            <a:ext cx="4419600" cy="419100"/>
          </a:xfrm>
          <a:prstGeom prst="rect">
            <a:avLst/>
          </a:prstGeom>
        </p:spPr>
      </p:pic>
      <p:pic>
        <p:nvPicPr>
          <p:cNvPr name="Picture 6" id="6"/>
          <p:cNvPicPr>
            <a:picLocks noChangeAspect="true"/>
          </p:cNvPicPr>
          <p:nvPr/>
        </p:nvPicPr>
        <p:blipFill>
          <a:blip r:embed="rId4"/>
          <a:stretch>
            <a:fillRect/>
          </a:stretch>
        </p:blipFill>
        <p:spPr>
          <a:xfrm rot="0">
            <a:off x="4419600" y="0"/>
            <a:ext cx="19964400" cy="419100"/>
          </a:xfrm>
          <a:prstGeom prst="rect">
            <a:avLst/>
          </a:prstGeom>
        </p:spPr>
      </p:pic>
      <p:pic>
        <p:nvPicPr>
          <p:cNvPr name="Picture 7" id="7"/>
          <p:cNvPicPr>
            <a:picLocks noChangeAspect="true"/>
          </p:cNvPicPr>
          <p:nvPr/>
        </p:nvPicPr>
        <p:blipFill>
          <a:blip r:embed="rId5"/>
          <a:stretch>
            <a:fillRect/>
          </a:stretch>
        </p:blipFill>
        <p:spPr>
          <a:xfrm rot="0">
            <a:off x="4419600" y="1612900"/>
            <a:ext cx="19075400" cy="25400"/>
          </a:xfrm>
          <a:prstGeom prst="rect">
            <a:avLst/>
          </a:prstGeom>
        </p:spPr>
      </p:pic>
      <p:pic>
        <p:nvPicPr>
          <p:cNvPr name="Picture 8" id="8"/>
          <p:cNvPicPr>
            <a:picLocks noChangeAspect="true"/>
          </p:cNvPicPr>
          <p:nvPr/>
        </p:nvPicPr>
        <p:blipFill>
          <a:blip r:embed="rId6"/>
          <a:stretch>
            <a:fillRect/>
          </a:stretch>
        </p:blipFill>
        <p:spPr>
          <a:xfrm rot="0">
            <a:off x="4419600" y="3276600"/>
            <a:ext cx="19075400" cy="25400"/>
          </a:xfrm>
          <a:prstGeom prst="rect">
            <a:avLst/>
          </a:prstGeom>
        </p:spPr>
      </p:pic>
      <p:pic>
        <p:nvPicPr>
          <p:cNvPr name="Picture 9" id="9"/>
          <p:cNvPicPr>
            <a:picLocks noChangeAspect="true"/>
          </p:cNvPicPr>
          <p:nvPr/>
        </p:nvPicPr>
        <p:blipFill>
          <a:blip r:embed="rId6"/>
          <a:stretch>
            <a:fillRect/>
          </a:stretch>
        </p:blipFill>
        <p:spPr>
          <a:xfrm rot="0">
            <a:off x="4419600" y="5295900"/>
            <a:ext cx="19075400" cy="25400"/>
          </a:xfrm>
          <a:prstGeom prst="rect">
            <a:avLst/>
          </a:prstGeom>
        </p:spPr>
      </p:pic>
      <p:pic>
        <p:nvPicPr>
          <p:cNvPr name="Picture 10" id="10"/>
          <p:cNvPicPr>
            <a:picLocks noChangeAspect="true"/>
          </p:cNvPicPr>
          <p:nvPr/>
        </p:nvPicPr>
        <p:blipFill>
          <a:blip r:embed="rId6"/>
          <a:stretch>
            <a:fillRect/>
          </a:stretch>
        </p:blipFill>
        <p:spPr>
          <a:xfrm rot="0">
            <a:off x="4419600" y="7543800"/>
            <a:ext cx="19075400" cy="25400"/>
          </a:xfrm>
          <a:prstGeom prst="rect">
            <a:avLst/>
          </a:prstGeom>
        </p:spPr>
      </p:pic>
      <p:pic>
        <p:nvPicPr>
          <p:cNvPr name="Picture 11" id="11"/>
          <p:cNvPicPr>
            <a:picLocks noChangeAspect="true"/>
          </p:cNvPicPr>
          <p:nvPr/>
        </p:nvPicPr>
        <p:blipFill>
          <a:blip r:embed="rId5"/>
          <a:stretch>
            <a:fillRect/>
          </a:stretch>
        </p:blipFill>
        <p:spPr>
          <a:xfrm rot="0">
            <a:off x="4419600" y="13068300"/>
            <a:ext cx="19075400" cy="25400"/>
          </a:xfrm>
          <a:prstGeom prst="rect">
            <a:avLst/>
          </a:prstGeom>
        </p:spPr>
      </p:pic>
      <p:sp>
        <p:nvSpPr>
          <p:cNvPr name="TextBox 12" id="12"/>
          <p:cNvSpPr txBox="true"/>
          <p:nvPr/>
        </p:nvSpPr>
        <p:spPr>
          <a:xfrm rot="0">
            <a:off x="4762500" y="3517900"/>
            <a:ext cx="18389600" cy="1562100"/>
          </a:xfrm>
          <a:prstGeom prst="rect">
            <a:avLst/>
          </a:prstGeom>
        </p:spPr>
        <p:txBody>
          <a:bodyPr anchor="ctr" rtlCol="false" lIns="0" tIns="0" rIns="0" bIns="0"/>
          <a:lstStyle/>
          <a:p>
            <a:pPr algn="ctr" lvl="0">
              <a:lnSpc>
                <a:spcPct val="116199"/>
              </a:lnSpc>
            </a:pPr>
            <a:r>
              <a:rPr lang="en-US" sz="2933" b="false" i="false" u="none" strike="noStrike">
                <a:solidFill>
                  <a:srgbClr val="000000"/>
                </a:solidFill>
                <a:latin typeface="Pretendard Medium"/>
                <a:ea typeface="Pretendard Medium"/>
                <a:cs typeface="Pretendard Medium"/>
              </a:rPr>
              <a:t>최근 기업들은 지원자의 경험과 사고 과정을 확인하기 위해 꼬리질문 중심의 심층 면접을 강화하고 있으며, 취업 준비생들은 예상 질문은 준비하지만 답변에 따른 다양한 꼬리질문까지 연습하기 어려운 상황입니다. 생성형 AI를 활용하여 사용자의 답변을 분석하고 맞춤형 꼬리질문을 제공하는 챗봇 개발을 통해 면접 대응 능력과 의사소통 역량 향상을 지원하고자 합니다.</a:t>
            </a:r>
          </a:p>
        </p:txBody>
      </p:sp>
      <p:sp>
        <p:nvSpPr>
          <p:cNvPr name="TextBox 13" id="13"/>
          <p:cNvSpPr txBox="true"/>
          <p:nvPr/>
        </p:nvSpPr>
        <p:spPr>
          <a:xfrm rot="0">
            <a:off x="10845800" y="7950200"/>
            <a:ext cx="12738100" cy="1498600"/>
          </a:xfrm>
          <a:prstGeom prst="rect">
            <a:avLst/>
          </a:prstGeom>
        </p:spPr>
        <p:txBody>
          <a:bodyPr anchor="ctr"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예상 질문 준비는 가능하나 꼬리질문 대응 어려움</a:t>
            </a:r>
          </a:p>
          <a:p>
            <a:pPr algn="l" lvl="0">
              <a:lnSpc>
                <a:spcPct val="116199"/>
              </a:lnSpc>
            </a:pPr>
            <a:r>
              <a:rPr lang="en-US" sz="2800" b="false" i="false" u="none" strike="noStrike">
                <a:solidFill>
                  <a:srgbClr val="000000"/>
                </a:solidFill>
                <a:latin typeface="Pretendard Regular"/>
                <a:ea typeface="Pretendard Regular"/>
                <a:cs typeface="Pretendard Regular"/>
              </a:rPr>
              <a:t>- 실제 면접과 유사한 연습 환경 부족</a:t>
            </a:r>
          </a:p>
          <a:p>
            <a:pPr algn="l" lvl="0">
              <a:lnSpc>
                <a:spcPct val="116199"/>
              </a:lnSpc>
            </a:pPr>
            <a:r>
              <a:rPr lang="en-US" sz="2800" b="false" i="false" u="none" strike="noStrike">
                <a:solidFill>
                  <a:srgbClr val="000000"/>
                </a:solidFill>
                <a:latin typeface="Pretendard Regular"/>
                <a:ea typeface="Pretendard Regular"/>
                <a:cs typeface="Pretendard Regular"/>
              </a:rPr>
              <a:t>- 반복 연습 기회 제한</a:t>
            </a:r>
          </a:p>
        </p:txBody>
      </p:sp>
      <p:sp>
        <p:nvSpPr>
          <p:cNvPr name="TextBox 14" id="14"/>
          <p:cNvSpPr txBox="true"/>
          <p:nvPr/>
        </p:nvSpPr>
        <p:spPr>
          <a:xfrm rot="0">
            <a:off x="4394200" y="8445500"/>
            <a:ext cx="6210300" cy="520700"/>
          </a:xfrm>
          <a:prstGeom prst="rect">
            <a:avLst/>
          </a:prstGeom>
        </p:spPr>
        <p:txBody>
          <a:bodyPr anchor="ctr" rtlCol="false" lIns="0" tIns="0" rIns="0" bIns="0"/>
          <a:lstStyle/>
          <a:p>
            <a:pPr algn="ctr" lvl="0">
              <a:lnSpc>
                <a:spcPct val="116199"/>
              </a:lnSpc>
            </a:pPr>
            <a:r>
              <a:rPr lang="en-US" sz="2933" b="false" i="false" u="none" strike="noStrike">
                <a:solidFill>
                  <a:srgbClr val="000000"/>
                </a:solidFill>
                <a:latin typeface="Pretendard Medium"/>
                <a:ea typeface="Pretendard Medium"/>
                <a:cs typeface="Pretendard Medium"/>
              </a:rPr>
              <a:t>취업 준비생의 어려움</a:t>
            </a:r>
          </a:p>
        </p:txBody>
      </p:sp>
      <p:pic>
        <p:nvPicPr>
          <p:cNvPr name="Picture 15" id="15"/>
          <p:cNvPicPr>
            <a:picLocks noChangeAspect="true"/>
          </p:cNvPicPr>
          <p:nvPr/>
        </p:nvPicPr>
        <p:blipFill>
          <a:blip r:embed="rId6"/>
          <a:stretch>
            <a:fillRect/>
          </a:stretch>
        </p:blipFill>
        <p:spPr>
          <a:xfrm rot="0">
            <a:off x="4419600" y="9791700"/>
            <a:ext cx="19075400" cy="25400"/>
          </a:xfrm>
          <a:prstGeom prst="rect">
            <a:avLst/>
          </a:prstGeom>
        </p:spPr>
      </p:pic>
      <p:sp>
        <p:nvSpPr>
          <p:cNvPr name="TextBox 16" id="16"/>
          <p:cNvSpPr txBox="true"/>
          <p:nvPr/>
        </p:nvSpPr>
        <p:spPr>
          <a:xfrm rot="0">
            <a:off x="10845800" y="10210800"/>
            <a:ext cx="12738100" cy="1498600"/>
          </a:xfrm>
          <a:prstGeom prst="rect">
            <a:avLst/>
          </a:prstGeom>
        </p:spPr>
        <p:txBody>
          <a:bodyPr anchor="ctr"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생성형 AI를 활용한 답변 분석</a:t>
            </a:r>
          </a:p>
          <a:p>
            <a:pPr algn="l" lvl="0">
              <a:lnSpc>
                <a:spcPct val="116199"/>
              </a:lnSpc>
            </a:pPr>
            <a:r>
              <a:rPr lang="en-US" sz="2800" b="false" i="false" u="none" strike="noStrike">
                <a:solidFill>
                  <a:srgbClr val="000000"/>
                </a:solidFill>
                <a:latin typeface="Pretendard Regular"/>
                <a:ea typeface="Pretendard Regular"/>
                <a:cs typeface="Pretendard Regular"/>
              </a:rPr>
              <a:t>- 맞춤형 꼬리질문 자동 생성</a:t>
            </a:r>
          </a:p>
          <a:p>
            <a:pPr algn="l" lvl="0">
              <a:lnSpc>
                <a:spcPct val="116199"/>
              </a:lnSpc>
            </a:pPr>
            <a:r>
              <a:rPr lang="en-US" sz="2800" b="false" i="false" u="none" strike="noStrike">
                <a:solidFill>
                  <a:srgbClr val="000000"/>
                </a:solidFill>
                <a:latin typeface="Pretendard Regular"/>
                <a:ea typeface="Pretendard Regular"/>
                <a:cs typeface="Pretendard Regular"/>
              </a:rPr>
              <a:t>- 면접 대응 능력 향상 지원</a:t>
            </a:r>
          </a:p>
        </p:txBody>
      </p:sp>
      <p:sp>
        <p:nvSpPr>
          <p:cNvPr name="TextBox 17" id="17"/>
          <p:cNvSpPr txBox="true"/>
          <p:nvPr/>
        </p:nvSpPr>
        <p:spPr>
          <a:xfrm rot="0">
            <a:off x="4394200" y="10706100"/>
            <a:ext cx="6210300" cy="520700"/>
          </a:xfrm>
          <a:prstGeom prst="rect">
            <a:avLst/>
          </a:prstGeom>
        </p:spPr>
        <p:txBody>
          <a:bodyPr anchor="ctr" rtlCol="false" lIns="0" tIns="0" rIns="0" bIns="0"/>
          <a:lstStyle/>
          <a:p>
            <a:pPr algn="ctr" lvl="0">
              <a:lnSpc>
                <a:spcPct val="116199"/>
              </a:lnSpc>
            </a:pPr>
            <a:r>
              <a:rPr lang="en-US" sz="2933" b="false" i="false" u="none" strike="noStrike">
                <a:solidFill>
                  <a:srgbClr val="000000"/>
                </a:solidFill>
                <a:latin typeface="Pretendard Medium"/>
                <a:ea typeface="Pretendard Medium"/>
                <a:cs typeface="Pretendard Medium"/>
              </a:rPr>
              <a:t>AI 기반 솔루션 개발</a:t>
            </a:r>
          </a:p>
        </p:txBody>
      </p:sp>
      <p:pic>
        <p:nvPicPr>
          <p:cNvPr name="Picture 18" id="18"/>
          <p:cNvPicPr>
            <a:picLocks noChangeAspect="true"/>
          </p:cNvPicPr>
          <p:nvPr/>
        </p:nvPicPr>
        <p:blipFill>
          <a:blip r:embed="rId6"/>
          <a:stretch>
            <a:fillRect/>
          </a:stretch>
        </p:blipFill>
        <p:spPr>
          <a:xfrm rot="0">
            <a:off x="4419600" y="12052300"/>
            <a:ext cx="19075400" cy="25400"/>
          </a:xfrm>
          <a:prstGeom prst="rect">
            <a:avLst/>
          </a:prstGeom>
        </p:spPr>
      </p:pic>
      <p:sp>
        <p:nvSpPr>
          <p:cNvPr name="TextBox 19" id="19"/>
          <p:cNvSpPr txBox="true"/>
          <p:nvPr/>
        </p:nvSpPr>
        <p:spPr>
          <a:xfrm rot="0">
            <a:off x="927100" y="1625600"/>
            <a:ext cx="3365500" cy="1803400"/>
          </a:xfrm>
          <a:prstGeom prst="rect">
            <a:avLst/>
          </a:prstGeom>
        </p:spPr>
        <p:txBody>
          <a:bodyPr anchor="t" rtlCol="false" lIns="0" tIns="69427" rIns="0" bIns="0"/>
          <a:lstStyle/>
          <a:p>
            <a:pPr algn="l" lvl="0">
              <a:lnSpc>
                <a:spcPct val="99600"/>
              </a:lnSpc>
            </a:pPr>
            <a:r>
              <a:rPr lang="en-US" sz="5466" b="false" i="false" u="none" strike="noStrike">
                <a:solidFill>
                  <a:srgbClr val="0063BA"/>
                </a:solidFill>
                <a:latin typeface="Pretendard Bold"/>
                <a:ea typeface="Pretendard Bold"/>
                <a:cs typeface="Pretendard Bold"/>
              </a:rPr>
              <a:t>주제 선정 배경</a:t>
            </a:r>
          </a:p>
        </p:txBody>
      </p:sp>
    </p:spTree>
  </p:cSld>
  <p:clrMapOvr>
    <a:masterClrMapping/>
  </p:clrMapOvr>
</p:sld>
</file>

<file path=ppt/slides/slide4.xml><?xml version="1.0" encoding="utf-8"?>
<p:sld xmlns:p="http://schemas.openxmlformats.org/presentationml/2006/main" xmlns:a="http://schemas.openxmlformats.org/drawingml/2006/main">
  <p:cSld>
    <p:bg xmlns:r="http://schemas.openxmlformats.org/officeDocument/2006/relationships">
      <p:bgPr>
        <a:solidFill>
          <a:srgbClr val="FFFFFF"/>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4419600" y="1866900"/>
            <a:ext cx="19037300" cy="5778500"/>
          </a:xfrm>
          <a:prstGeom prst="rect">
            <a:avLst/>
          </a:prstGeom>
        </p:spPr>
      </p:pic>
      <p:sp>
        <p:nvSpPr>
          <p:cNvPr name="TextBox 3" id="3"/>
          <p:cNvSpPr txBox="true"/>
          <p:nvPr/>
        </p:nvSpPr>
        <p:spPr>
          <a:xfrm rot="0">
            <a:off x="4419600" y="8991600"/>
            <a:ext cx="19151600" cy="990600"/>
          </a:xfrm>
          <a:prstGeom prst="rect">
            <a:avLst/>
          </a:prstGeom>
        </p:spPr>
        <p:txBody>
          <a:bodyPr anchor="t"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대화 맥락(Context)을 완벽하게 기억하는 메커니즘</a:t>
            </a:r>
          </a:p>
          <a:p>
            <a:pPr algn="l" lvl="0">
              <a:lnSpc>
                <a:spcPct val="116199"/>
              </a:lnSpc>
            </a:pPr>
            <a:r>
              <a:rPr lang="en-US" sz="2800" b="false" i="false" u="none" strike="noStrike">
                <a:solidFill>
                  <a:srgbClr val="000000"/>
                </a:solidFill>
                <a:latin typeface="Pretendard Regular"/>
                <a:ea typeface="Pretendard Regular"/>
                <a:cs typeface="Pretendard Regular"/>
              </a:rPr>
              <a:t>- 사용자의 이전 답변 키워드 파악 및 실시간 날카로운 후속 질문 생성 기능을 갖춘 대화형 에이전트 구조 차용</a:t>
            </a:r>
          </a:p>
        </p:txBody>
      </p:sp>
      <p:sp>
        <p:nvSpPr>
          <p:cNvPr name="TextBox 4" id="4"/>
          <p:cNvSpPr txBox="true"/>
          <p:nvPr/>
        </p:nvSpPr>
        <p:spPr>
          <a:xfrm rot="0">
            <a:off x="4419600" y="8191500"/>
            <a:ext cx="19164300" cy="596900"/>
          </a:xfrm>
          <a:prstGeom prst="rect">
            <a:avLst/>
          </a:prstGeom>
        </p:spPr>
        <p:txBody>
          <a:bodyPr anchor="b" rtlCol="false" lIns="0" tIns="0" rIns="0" bIns="0"/>
          <a:lstStyle/>
          <a:p>
            <a:pPr algn="l" lvl="0">
              <a:lnSpc>
                <a:spcPct val="116199"/>
              </a:lnSpc>
            </a:pPr>
            <a:r>
              <a:rPr lang="en-US" sz="3333" b="false" i="false" u="none" strike="noStrike">
                <a:solidFill>
                  <a:srgbClr val="0063BA"/>
                </a:solidFill>
                <a:latin typeface="Pretendard SemiBold"/>
                <a:ea typeface="Pretendard SemiBold"/>
                <a:cs typeface="Pretendard SemiBold"/>
              </a:rPr>
              <a:t>ChatGPT (OpenAI)</a:t>
            </a:r>
          </a:p>
        </p:txBody>
      </p:sp>
      <p:sp>
        <p:nvSpPr>
          <p:cNvPr name="TextBox 5" id="5"/>
          <p:cNvSpPr txBox="true"/>
          <p:nvPr/>
        </p:nvSpPr>
        <p:spPr>
          <a:xfrm rot="0">
            <a:off x="4419600" y="10604500"/>
            <a:ext cx="19164300" cy="596900"/>
          </a:xfrm>
          <a:prstGeom prst="rect">
            <a:avLst/>
          </a:prstGeom>
        </p:spPr>
        <p:txBody>
          <a:bodyPr anchor="b" rtlCol="false" lIns="0" tIns="0" rIns="0" bIns="0"/>
          <a:lstStyle/>
          <a:p>
            <a:pPr algn="l" lvl="0">
              <a:lnSpc>
                <a:spcPct val="116199"/>
              </a:lnSpc>
            </a:pPr>
            <a:r>
              <a:rPr lang="en-US" sz="3333" b="false" i="false" u="none" strike="noStrike">
                <a:solidFill>
                  <a:srgbClr val="0063BA"/>
                </a:solidFill>
                <a:latin typeface="Pretendard SemiBold"/>
                <a:ea typeface="Pretendard SemiBold"/>
                <a:cs typeface="Pretendard SemiBold"/>
              </a:rPr>
              <a:t>사람인 AI 모의 면접</a:t>
            </a:r>
          </a:p>
        </p:txBody>
      </p:sp>
      <p:sp>
        <p:nvSpPr>
          <p:cNvPr name="TextBox 6" id="6"/>
          <p:cNvSpPr txBox="true"/>
          <p:nvPr/>
        </p:nvSpPr>
        <p:spPr>
          <a:xfrm rot="0">
            <a:off x="4419600" y="11366500"/>
            <a:ext cx="19151600" cy="990600"/>
          </a:xfrm>
          <a:prstGeom prst="rect">
            <a:avLst/>
          </a:prstGeom>
        </p:spPr>
        <p:txBody>
          <a:bodyPr anchor="t"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지원 직무와 자소서 내용 기반 맞춤형 질문 설계 시스템</a:t>
            </a:r>
          </a:p>
          <a:p>
            <a:pPr algn="l" lvl="0">
              <a:lnSpc>
                <a:spcPct val="116199"/>
              </a:lnSpc>
            </a:pPr>
            <a:r>
              <a:rPr lang="en-US" sz="2800" b="false" i="false" u="none" strike="noStrike">
                <a:solidFill>
                  <a:srgbClr val="000000"/>
                </a:solidFill>
                <a:latin typeface="Pretendard Regular"/>
                <a:ea typeface="Pretendard Regular"/>
                <a:cs typeface="Pretendard Regular"/>
              </a:rPr>
              <a:t>- 면접 종료 후 답변 태도 및 논리성 종합 분석, 개선점을 제시하는 리포트 시스템 벤치마킹</a:t>
            </a:r>
          </a:p>
        </p:txBody>
      </p:sp>
      <p:pic>
        <p:nvPicPr>
          <p:cNvPr name="Picture 7" id="7"/>
          <p:cNvPicPr>
            <a:picLocks noChangeAspect="true"/>
          </p:cNvPicPr>
          <p:nvPr/>
        </p:nvPicPr>
        <p:blipFill>
          <a:blip r:embed="rId3"/>
          <a:stretch>
            <a:fillRect/>
          </a:stretch>
        </p:blipFill>
        <p:spPr>
          <a:xfrm rot="0">
            <a:off x="0" y="0"/>
            <a:ext cx="4419600" cy="419100"/>
          </a:xfrm>
          <a:prstGeom prst="rect">
            <a:avLst/>
          </a:prstGeom>
        </p:spPr>
      </p:pic>
      <p:pic>
        <p:nvPicPr>
          <p:cNvPr name="Picture 8" id="8"/>
          <p:cNvPicPr>
            <a:picLocks noChangeAspect="true"/>
          </p:cNvPicPr>
          <p:nvPr/>
        </p:nvPicPr>
        <p:blipFill>
          <a:blip r:embed="rId4"/>
          <a:stretch>
            <a:fillRect/>
          </a:stretch>
        </p:blipFill>
        <p:spPr>
          <a:xfrm rot="0">
            <a:off x="4419600" y="0"/>
            <a:ext cx="19964400" cy="419100"/>
          </a:xfrm>
          <a:prstGeom prst="rect">
            <a:avLst/>
          </a:prstGeom>
        </p:spPr>
      </p:pic>
      <p:pic>
        <p:nvPicPr>
          <p:cNvPr name="Picture 9" id="9"/>
          <p:cNvPicPr>
            <a:picLocks noChangeAspect="true"/>
          </p:cNvPicPr>
          <p:nvPr/>
        </p:nvPicPr>
        <p:blipFill>
          <a:blip r:embed="rId5"/>
          <a:stretch>
            <a:fillRect/>
          </a:stretch>
        </p:blipFill>
        <p:spPr>
          <a:xfrm rot="0">
            <a:off x="4419600" y="1612900"/>
            <a:ext cx="19075400" cy="25400"/>
          </a:xfrm>
          <a:prstGeom prst="rect">
            <a:avLst/>
          </a:prstGeom>
        </p:spPr>
      </p:pic>
      <p:pic>
        <p:nvPicPr>
          <p:cNvPr name="Picture 10" id="10"/>
          <p:cNvPicPr>
            <a:picLocks noChangeAspect="true"/>
          </p:cNvPicPr>
          <p:nvPr/>
        </p:nvPicPr>
        <p:blipFill>
          <a:blip r:embed="rId5"/>
          <a:stretch>
            <a:fillRect/>
          </a:stretch>
        </p:blipFill>
        <p:spPr>
          <a:xfrm rot="0">
            <a:off x="4419600" y="13068300"/>
            <a:ext cx="19075400" cy="25400"/>
          </a:xfrm>
          <a:prstGeom prst="rect">
            <a:avLst/>
          </a:prstGeom>
        </p:spPr>
      </p:pic>
      <p:sp>
        <p:nvSpPr>
          <p:cNvPr name="TextBox 11" id="11"/>
          <p:cNvSpPr txBox="true"/>
          <p:nvPr/>
        </p:nvSpPr>
        <p:spPr>
          <a:xfrm rot="0">
            <a:off x="927100" y="1625600"/>
            <a:ext cx="3365500" cy="1803400"/>
          </a:xfrm>
          <a:prstGeom prst="rect">
            <a:avLst/>
          </a:prstGeom>
        </p:spPr>
        <p:txBody>
          <a:bodyPr anchor="t" rtlCol="false" lIns="0" tIns="69427" rIns="0" bIns="0"/>
          <a:lstStyle/>
          <a:p>
            <a:pPr algn="l" lvl="0">
              <a:lnSpc>
                <a:spcPct val="99600"/>
              </a:lnSpc>
            </a:pPr>
            <a:r>
              <a:rPr lang="en-US" sz="5466" b="false" i="false" u="none" strike="noStrike">
                <a:solidFill>
                  <a:srgbClr val="0063BA"/>
                </a:solidFill>
                <a:latin typeface="Pretendard Bold"/>
                <a:ea typeface="Pretendard Bold"/>
                <a:cs typeface="Pretendard Bold"/>
              </a:rPr>
              <a:t>벤치마킹 사례</a:t>
            </a:r>
          </a:p>
        </p:txBody>
      </p:sp>
    </p:spTree>
  </p:cSld>
  <p:clrMapOvr>
    <a:masterClrMapping/>
  </p:clrMapOvr>
</p:sld>
</file>

<file path=ppt/slides/slide5.xml><?xml version="1.0" encoding="utf-8"?>
<p:sld xmlns:p="http://schemas.openxmlformats.org/presentationml/2006/main" xmlns:a="http://schemas.openxmlformats.org/drawingml/2006/main">
  <p:cSld>
    <p:bg xmlns:r="http://schemas.openxmlformats.org/officeDocument/2006/relationships">
      <p:bgPr>
        <a:solidFill>
          <a:srgbClr val="FFFFFF"/>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0" y="0"/>
            <a:ext cx="4419600" cy="419100"/>
          </a:xfrm>
          <a:prstGeom prst="rect">
            <a:avLst/>
          </a:prstGeom>
        </p:spPr>
      </p:pic>
      <p:pic>
        <p:nvPicPr>
          <p:cNvPr name="Picture 3" id="3"/>
          <p:cNvPicPr>
            <a:picLocks noChangeAspect="true"/>
          </p:cNvPicPr>
          <p:nvPr/>
        </p:nvPicPr>
        <p:blipFill>
          <a:blip r:embed="rId3"/>
          <a:stretch>
            <a:fillRect/>
          </a:stretch>
        </p:blipFill>
        <p:spPr>
          <a:xfrm rot="0">
            <a:off x="4419600" y="0"/>
            <a:ext cx="19964400" cy="419100"/>
          </a:xfrm>
          <a:prstGeom prst="rect">
            <a:avLst/>
          </a:prstGeom>
        </p:spPr>
      </p:pic>
      <p:pic>
        <p:nvPicPr>
          <p:cNvPr name="Picture 4" id="4"/>
          <p:cNvPicPr>
            <a:picLocks noChangeAspect="true"/>
          </p:cNvPicPr>
          <p:nvPr/>
        </p:nvPicPr>
        <p:blipFill>
          <a:blip r:embed="rId4"/>
          <a:stretch>
            <a:fillRect/>
          </a:stretch>
        </p:blipFill>
        <p:spPr>
          <a:xfrm rot="0">
            <a:off x="4419600" y="1612900"/>
            <a:ext cx="19075400" cy="25400"/>
          </a:xfrm>
          <a:prstGeom prst="rect">
            <a:avLst/>
          </a:prstGeom>
        </p:spPr>
      </p:pic>
      <p:pic>
        <p:nvPicPr>
          <p:cNvPr name="Picture 5" id="5"/>
          <p:cNvPicPr>
            <a:picLocks noChangeAspect="true"/>
          </p:cNvPicPr>
          <p:nvPr/>
        </p:nvPicPr>
        <p:blipFill>
          <a:blip r:embed="rId4"/>
          <a:stretch>
            <a:fillRect/>
          </a:stretch>
        </p:blipFill>
        <p:spPr>
          <a:xfrm rot="0">
            <a:off x="4419600" y="13068300"/>
            <a:ext cx="19075400" cy="25400"/>
          </a:xfrm>
          <a:prstGeom prst="rect">
            <a:avLst/>
          </a:prstGeom>
        </p:spPr>
      </p:pic>
      <p:sp>
        <p:nvSpPr>
          <p:cNvPr name="TextBox 6" id="6"/>
          <p:cNvSpPr txBox="true"/>
          <p:nvPr/>
        </p:nvSpPr>
        <p:spPr>
          <a:xfrm rot="0">
            <a:off x="927100" y="1625600"/>
            <a:ext cx="3365500" cy="1803400"/>
          </a:xfrm>
          <a:prstGeom prst="rect">
            <a:avLst/>
          </a:prstGeom>
        </p:spPr>
        <p:txBody>
          <a:bodyPr anchor="t" rtlCol="false" lIns="0" tIns="69427" rIns="0" bIns="0"/>
          <a:lstStyle/>
          <a:p>
            <a:pPr algn="l" lvl="0">
              <a:lnSpc>
                <a:spcPct val="99600"/>
              </a:lnSpc>
            </a:pPr>
            <a:r>
              <a:rPr lang="en-US" sz="5466" b="false" i="false" u="none" strike="noStrike">
                <a:solidFill>
                  <a:srgbClr val="0063BA"/>
                </a:solidFill>
                <a:latin typeface="Pretendard Bold"/>
                <a:ea typeface="Pretendard Bold"/>
                <a:cs typeface="Pretendard Bold"/>
              </a:rPr>
              <a:t>기대 효과 및 차별점</a:t>
            </a:r>
          </a:p>
        </p:txBody>
      </p:sp>
      <p:pic>
        <p:nvPicPr>
          <p:cNvPr name="Picture 7" id="7"/>
          <p:cNvPicPr>
            <a:picLocks noChangeAspect="true"/>
          </p:cNvPicPr>
          <p:nvPr/>
        </p:nvPicPr>
        <p:blipFill>
          <a:blip r:embed="rId5"/>
          <a:stretch>
            <a:fillRect/>
          </a:stretch>
        </p:blipFill>
        <p:spPr>
          <a:xfrm rot="0">
            <a:off x="4419600" y="2946400"/>
            <a:ext cx="9207500" cy="4254500"/>
          </a:xfrm>
          <a:prstGeom prst="rect">
            <a:avLst/>
          </a:prstGeom>
        </p:spPr>
      </p:pic>
      <p:pic>
        <p:nvPicPr>
          <p:cNvPr name="Picture 8" id="8"/>
          <p:cNvPicPr>
            <a:picLocks noChangeAspect="true"/>
          </p:cNvPicPr>
          <p:nvPr/>
        </p:nvPicPr>
        <p:blipFill>
          <a:blip r:embed="rId5"/>
          <a:stretch>
            <a:fillRect/>
          </a:stretch>
        </p:blipFill>
        <p:spPr>
          <a:xfrm rot="0">
            <a:off x="14287500" y="2946400"/>
            <a:ext cx="9207500" cy="4254500"/>
          </a:xfrm>
          <a:prstGeom prst="rect">
            <a:avLst/>
          </a:prstGeom>
        </p:spPr>
      </p:pic>
      <p:sp>
        <p:nvSpPr>
          <p:cNvPr name="TextBox 9" id="9"/>
          <p:cNvSpPr txBox="true"/>
          <p:nvPr/>
        </p:nvSpPr>
        <p:spPr>
          <a:xfrm rot="0">
            <a:off x="4851400" y="3492500"/>
            <a:ext cx="8343900" cy="736600"/>
          </a:xfrm>
          <a:prstGeom prst="rect">
            <a:avLst/>
          </a:prstGeom>
        </p:spPr>
        <p:txBody>
          <a:bodyPr anchor="b" rtlCol="false" lIns="0" tIns="0" rIns="0" bIns="0"/>
          <a:lstStyle/>
          <a:p>
            <a:pPr algn="ctr" lvl="0">
              <a:lnSpc>
                <a:spcPct val="116199"/>
              </a:lnSpc>
            </a:pPr>
            <a:r>
              <a:rPr lang="en-US" sz="4133" b="false" i="false" u="none" strike="noStrike">
                <a:solidFill>
                  <a:srgbClr val="0063BA"/>
                </a:solidFill>
                <a:latin typeface="Pretendard SemiBold"/>
                <a:ea typeface="Pretendard SemiBold"/>
                <a:cs typeface="Pretendard SemiBold"/>
              </a:rPr>
              <a:t>실전 대응력 향상</a:t>
            </a:r>
          </a:p>
        </p:txBody>
      </p:sp>
      <p:sp>
        <p:nvSpPr>
          <p:cNvPr name="TextBox 10" id="10"/>
          <p:cNvSpPr txBox="true"/>
          <p:nvPr/>
        </p:nvSpPr>
        <p:spPr>
          <a:xfrm rot="0">
            <a:off x="4876800" y="4572000"/>
            <a:ext cx="8293100" cy="1993900"/>
          </a:xfrm>
          <a:prstGeom prst="rect">
            <a:avLst/>
          </a:prstGeom>
        </p:spPr>
        <p:txBody>
          <a:bodyPr anchor="t" rtlCol="false" lIns="0" tIns="0" rIns="0" bIns="0"/>
          <a:lstStyle/>
          <a:p>
            <a:pPr algn="ctr" lvl="0">
              <a:lnSpc>
                <a:spcPct val="116199"/>
              </a:lnSpc>
            </a:pPr>
            <a:r>
              <a:rPr lang="en-US" sz="2800" b="false" i="false" u="none" strike="noStrike">
                <a:solidFill>
                  <a:srgbClr val="000000"/>
                </a:solidFill>
                <a:latin typeface="Pretendard Regular"/>
                <a:ea typeface="Pretendard Regular"/>
                <a:cs typeface="Pretendard Regular"/>
              </a:rPr>
              <a:t>- 실제 면접 대응력 강화</a:t>
            </a:r>
          </a:p>
          <a:p>
            <a:pPr algn="ctr" lvl="0">
              <a:lnSpc>
                <a:spcPct val="116199"/>
              </a:lnSpc>
            </a:pPr>
            <a:r>
              <a:rPr lang="en-US" sz="2800" b="false" i="false" u="none" strike="noStrike">
                <a:solidFill>
                  <a:srgbClr val="000000"/>
                </a:solidFill>
                <a:latin typeface="Pretendard Regular"/>
                <a:ea typeface="Pretendard Regular"/>
                <a:cs typeface="Pretendard Regular"/>
              </a:rPr>
              <a:t>- 논리적 답변 구성 능력 향상</a:t>
            </a:r>
          </a:p>
          <a:p>
            <a:pPr algn="ctr" lvl="0">
              <a:lnSpc>
                <a:spcPct val="116199"/>
              </a:lnSpc>
            </a:pPr>
            <a:r>
              <a:rPr lang="en-US" sz="2800" b="false" i="false" u="none" strike="noStrike">
                <a:solidFill>
                  <a:srgbClr val="000000"/>
                </a:solidFill>
                <a:latin typeface="Pretendard Regular"/>
                <a:ea typeface="Pretendard Regular"/>
                <a:cs typeface="Pretendard Regular"/>
              </a:rPr>
              <a:t>- AI 기반 대화형 서비스 개발 경험 확보</a:t>
            </a:r>
          </a:p>
          <a:p>
            <a:pPr algn="ctr" lvl="0">
              <a:lnSpc>
                <a:spcPct val="116199"/>
              </a:lnSpc>
            </a:pPr>
            <a:r>
              <a:rPr lang="en-US" sz="2800" b="false" i="false" u="none" strike="noStrike">
                <a:solidFill>
                  <a:srgbClr val="000000"/>
                </a:solidFill>
                <a:latin typeface="Pretendard Regular"/>
                <a:ea typeface="Pretendard Regular"/>
                <a:cs typeface="Pretendard Regular"/>
              </a:rPr>
              <a:t>- 사용자 맞춤형 연습 환경 제공</a:t>
            </a:r>
          </a:p>
        </p:txBody>
      </p:sp>
      <p:sp>
        <p:nvSpPr>
          <p:cNvPr name="TextBox 11" id="11"/>
          <p:cNvSpPr txBox="true"/>
          <p:nvPr/>
        </p:nvSpPr>
        <p:spPr>
          <a:xfrm rot="0">
            <a:off x="14719300" y="3492500"/>
            <a:ext cx="8343900" cy="736600"/>
          </a:xfrm>
          <a:prstGeom prst="rect">
            <a:avLst/>
          </a:prstGeom>
        </p:spPr>
        <p:txBody>
          <a:bodyPr anchor="b" rtlCol="false" lIns="0" tIns="0" rIns="0" bIns="0"/>
          <a:lstStyle/>
          <a:p>
            <a:pPr algn="ctr" lvl="0">
              <a:lnSpc>
                <a:spcPct val="116199"/>
              </a:lnSpc>
            </a:pPr>
            <a:r>
              <a:rPr lang="en-US" sz="4133" b="false" i="false" u="none" strike="noStrike">
                <a:solidFill>
                  <a:srgbClr val="0063BA"/>
                </a:solidFill>
                <a:latin typeface="Pretendard SemiBold"/>
                <a:ea typeface="Pretendard SemiBold"/>
                <a:cs typeface="Pretendard SemiBold"/>
              </a:rPr>
              <a:t>접근성 높은 구현</a:t>
            </a:r>
          </a:p>
        </p:txBody>
      </p:sp>
      <p:sp>
        <p:nvSpPr>
          <p:cNvPr name="TextBox 12" id="12"/>
          <p:cNvSpPr txBox="true"/>
          <p:nvPr/>
        </p:nvSpPr>
        <p:spPr>
          <a:xfrm rot="0">
            <a:off x="14744700" y="4572000"/>
            <a:ext cx="8293100" cy="1993900"/>
          </a:xfrm>
          <a:prstGeom prst="rect">
            <a:avLst/>
          </a:prstGeom>
        </p:spPr>
        <p:txBody>
          <a:bodyPr anchor="t" rtlCol="false" lIns="0" tIns="0" rIns="0" bIns="0"/>
          <a:lstStyle/>
          <a:p>
            <a:pPr algn="ctr" lvl="0">
              <a:lnSpc>
                <a:spcPct val="116199"/>
              </a:lnSpc>
            </a:pPr>
            <a:r>
              <a:rPr lang="en-US" sz="2800" b="false" i="false" u="none" strike="noStrike">
                <a:solidFill>
                  <a:srgbClr val="000000"/>
                </a:solidFill>
                <a:latin typeface="Pretendard Regular"/>
                <a:ea typeface="Pretendard Regular"/>
                <a:cs typeface="Pretendard Regular"/>
              </a:rPr>
              <a:t>- 챗봇 형태로 구현하여 접근성 극대화</a:t>
            </a:r>
          </a:p>
          <a:p>
            <a:pPr algn="ctr" lvl="0">
              <a:lnSpc>
                <a:spcPct val="116199"/>
              </a:lnSpc>
            </a:pPr>
            <a:r>
              <a:rPr lang="en-US" sz="2800" b="false" i="false" u="none" strike="noStrike">
                <a:solidFill>
                  <a:srgbClr val="000000"/>
                </a:solidFill>
                <a:latin typeface="Pretendard Regular"/>
                <a:ea typeface="Pretendard Regular"/>
                <a:cs typeface="Pretendard Regular"/>
              </a:rPr>
              <a:t>- AI 면접관의 생생한 TTS 음성 질문 제공</a:t>
            </a:r>
          </a:p>
          <a:p>
            <a:pPr algn="ctr" lvl="0">
              <a:lnSpc>
                <a:spcPct val="116199"/>
              </a:lnSpc>
            </a:pPr>
            <a:r>
              <a:rPr lang="en-US" sz="2800" b="false" i="false" u="none" strike="noStrike">
                <a:solidFill>
                  <a:srgbClr val="000000"/>
                </a:solidFill>
                <a:latin typeface="Pretendard Regular"/>
                <a:ea typeface="Pretendard Regular"/>
                <a:cs typeface="Pretendard Regular"/>
              </a:rPr>
              <a:t>- 실전처럼 질문을 받는 연습 가능</a:t>
            </a:r>
          </a:p>
          <a:p>
            <a:pPr algn="ctr" lvl="0">
              <a:lnSpc>
                <a:spcPct val="116199"/>
              </a:lnSpc>
            </a:pPr>
            <a:r>
              <a:rPr lang="en-US" sz="2800" b="false" i="false" u="none" strike="noStrike">
                <a:solidFill>
                  <a:srgbClr val="000000"/>
                </a:solidFill>
                <a:latin typeface="Pretendard Regular"/>
                <a:ea typeface="Pretendard Regular"/>
                <a:cs typeface="Pretendard Regular"/>
              </a:rPr>
              <a:t>- 언제 어디서나 이용 가능</a:t>
            </a:r>
          </a:p>
        </p:txBody>
      </p:sp>
      <p:pic>
        <p:nvPicPr>
          <p:cNvPr name="Picture 13" id="13"/>
          <p:cNvPicPr>
            <a:picLocks noChangeAspect="true"/>
          </p:cNvPicPr>
          <p:nvPr/>
        </p:nvPicPr>
        <p:blipFill>
          <a:blip r:embed="rId6"/>
          <a:stretch>
            <a:fillRect/>
          </a:stretch>
        </p:blipFill>
        <p:spPr>
          <a:xfrm rot="0">
            <a:off x="4419600" y="7810500"/>
            <a:ext cx="9207500" cy="4254500"/>
          </a:xfrm>
          <a:prstGeom prst="rect">
            <a:avLst/>
          </a:prstGeom>
        </p:spPr>
      </p:pic>
      <p:pic>
        <p:nvPicPr>
          <p:cNvPr name="Picture 14" id="14"/>
          <p:cNvPicPr>
            <a:picLocks noChangeAspect="true"/>
          </p:cNvPicPr>
          <p:nvPr/>
        </p:nvPicPr>
        <p:blipFill>
          <a:blip r:embed="rId6"/>
          <a:stretch>
            <a:fillRect/>
          </a:stretch>
        </p:blipFill>
        <p:spPr>
          <a:xfrm rot="0">
            <a:off x="14287500" y="7810500"/>
            <a:ext cx="9207500" cy="4254500"/>
          </a:xfrm>
          <a:prstGeom prst="rect">
            <a:avLst/>
          </a:prstGeom>
        </p:spPr>
      </p:pic>
      <p:sp>
        <p:nvSpPr>
          <p:cNvPr name="TextBox 15" id="15"/>
          <p:cNvSpPr txBox="true"/>
          <p:nvPr/>
        </p:nvSpPr>
        <p:spPr>
          <a:xfrm rot="0">
            <a:off x="4851400" y="8356600"/>
            <a:ext cx="8343900" cy="736600"/>
          </a:xfrm>
          <a:prstGeom prst="rect">
            <a:avLst/>
          </a:prstGeom>
        </p:spPr>
        <p:txBody>
          <a:bodyPr anchor="b" rtlCol="false" lIns="0" tIns="0" rIns="0" bIns="0"/>
          <a:lstStyle/>
          <a:p>
            <a:pPr algn="ctr" lvl="0">
              <a:lnSpc>
                <a:spcPct val="116199"/>
              </a:lnSpc>
            </a:pPr>
            <a:r>
              <a:rPr lang="en-US" sz="4133" b="false" i="false" u="none" strike="noStrike">
                <a:solidFill>
                  <a:srgbClr val="000000"/>
                </a:solidFill>
                <a:latin typeface="Pretendard SemiBold"/>
                <a:ea typeface="Pretendard SemiBold"/>
                <a:cs typeface="Pretendard SemiBold"/>
              </a:rPr>
              <a:t>정교한 답변 방식</a:t>
            </a:r>
          </a:p>
        </p:txBody>
      </p:sp>
      <p:sp>
        <p:nvSpPr>
          <p:cNvPr name="TextBox 16" id="16"/>
          <p:cNvSpPr txBox="true"/>
          <p:nvPr/>
        </p:nvSpPr>
        <p:spPr>
          <a:xfrm rot="0">
            <a:off x="4876800" y="9436100"/>
            <a:ext cx="8293100" cy="1993900"/>
          </a:xfrm>
          <a:prstGeom prst="rect">
            <a:avLst/>
          </a:prstGeom>
        </p:spPr>
        <p:txBody>
          <a:bodyPr anchor="t" rtlCol="false" lIns="0" tIns="0" rIns="0" bIns="0"/>
          <a:lstStyle/>
          <a:p>
            <a:pPr algn="ctr" lvl="0">
              <a:lnSpc>
                <a:spcPct val="116199"/>
              </a:lnSpc>
            </a:pPr>
            <a:r>
              <a:rPr lang="en-US" sz="2800" b="false" i="false" u="none" strike="noStrike">
                <a:solidFill>
                  <a:srgbClr val="000000"/>
                </a:solidFill>
                <a:latin typeface="Pretendard Regular"/>
                <a:ea typeface="Pretendard Regular"/>
                <a:cs typeface="Pretendard Regular"/>
              </a:rPr>
              <a:t>- 키보드로 정교하게 타이핑하여 답변 제출</a:t>
            </a:r>
          </a:p>
          <a:p>
            <a:pPr algn="ctr" lvl="0">
              <a:lnSpc>
                <a:spcPct val="116199"/>
              </a:lnSpc>
            </a:pPr>
            <a:r>
              <a:rPr lang="en-US" sz="2800" b="false" i="false" u="none" strike="noStrike">
                <a:solidFill>
                  <a:srgbClr val="000000"/>
                </a:solidFill>
                <a:latin typeface="Pretendard Regular"/>
                <a:ea typeface="Pretendard Regular"/>
                <a:cs typeface="Pretendard Regular"/>
              </a:rPr>
              <a:t>- 음성 인식 오류 없는 정확한 입력</a:t>
            </a:r>
          </a:p>
          <a:p>
            <a:pPr algn="ctr" lvl="0">
              <a:lnSpc>
                <a:spcPct val="116199"/>
              </a:lnSpc>
            </a:pPr>
            <a:r>
              <a:rPr lang="en-US" sz="2800" b="false" i="false" u="none" strike="noStrike">
                <a:solidFill>
                  <a:srgbClr val="000000"/>
                </a:solidFill>
                <a:latin typeface="Pretendard Regular"/>
                <a:ea typeface="Pretendard Regular"/>
                <a:cs typeface="Pretendard Regular"/>
              </a:rPr>
              <a:t>- 내 답변에 대한 날카로운 실시간 피드백</a:t>
            </a:r>
          </a:p>
          <a:p>
            <a:pPr algn="ctr" lvl="0">
              <a:lnSpc>
                <a:spcPct val="116199"/>
              </a:lnSpc>
            </a:pPr>
            <a:r>
              <a:rPr lang="en-US" sz="2800" b="false" i="false" u="none" strike="noStrike">
                <a:solidFill>
                  <a:srgbClr val="000000"/>
                </a:solidFill>
                <a:latin typeface="Pretendard Regular"/>
                <a:ea typeface="Pretendard Regular"/>
                <a:cs typeface="Pretendard Regular"/>
              </a:rPr>
              <a:t>- 즉각적인 꼬리질문 생성</a:t>
            </a:r>
          </a:p>
        </p:txBody>
      </p:sp>
      <p:sp>
        <p:nvSpPr>
          <p:cNvPr name="TextBox 17" id="17"/>
          <p:cNvSpPr txBox="true"/>
          <p:nvPr/>
        </p:nvSpPr>
        <p:spPr>
          <a:xfrm rot="0">
            <a:off x="14719300" y="8356600"/>
            <a:ext cx="8343900" cy="736600"/>
          </a:xfrm>
          <a:prstGeom prst="rect">
            <a:avLst/>
          </a:prstGeom>
        </p:spPr>
        <p:txBody>
          <a:bodyPr anchor="b" rtlCol="false" lIns="0" tIns="0" rIns="0" bIns="0"/>
          <a:lstStyle/>
          <a:p>
            <a:pPr algn="ctr" lvl="0">
              <a:lnSpc>
                <a:spcPct val="116199"/>
              </a:lnSpc>
            </a:pPr>
            <a:r>
              <a:rPr lang="en-US" sz="4133" b="false" i="false" u="none" strike="noStrike">
                <a:solidFill>
                  <a:srgbClr val="000000"/>
                </a:solidFill>
                <a:latin typeface="Pretendard SemiBold"/>
                <a:ea typeface="Pretendard SemiBold"/>
                <a:cs typeface="Pretendard SemiBold"/>
              </a:rPr>
              <a:t>차별화된 학습 경험</a:t>
            </a:r>
          </a:p>
        </p:txBody>
      </p:sp>
      <p:sp>
        <p:nvSpPr>
          <p:cNvPr name="TextBox 18" id="18"/>
          <p:cNvSpPr txBox="true"/>
          <p:nvPr/>
        </p:nvSpPr>
        <p:spPr>
          <a:xfrm rot="0">
            <a:off x="14744700" y="9436100"/>
            <a:ext cx="8293100" cy="1993900"/>
          </a:xfrm>
          <a:prstGeom prst="rect">
            <a:avLst/>
          </a:prstGeom>
        </p:spPr>
        <p:txBody>
          <a:bodyPr anchor="t" rtlCol="false" lIns="0" tIns="0" rIns="0" bIns="0"/>
          <a:lstStyle/>
          <a:p>
            <a:pPr algn="ctr" lvl="0">
              <a:lnSpc>
                <a:spcPct val="116199"/>
              </a:lnSpc>
            </a:pPr>
            <a:r>
              <a:rPr lang="en-US" sz="2800" b="false" i="false" u="none" strike="noStrike">
                <a:solidFill>
                  <a:srgbClr val="000000"/>
                </a:solidFill>
                <a:latin typeface="Pretendard Regular"/>
                <a:ea typeface="Pretendard Regular"/>
                <a:cs typeface="Pretendard Regular"/>
              </a:rPr>
              <a:t>- 음성과 텍스트의 장점 결합</a:t>
            </a:r>
          </a:p>
          <a:p>
            <a:pPr algn="ctr" lvl="0">
              <a:lnSpc>
                <a:spcPct val="116199"/>
              </a:lnSpc>
            </a:pPr>
            <a:r>
              <a:rPr lang="en-US" sz="2800" b="false" i="false" u="none" strike="noStrike">
                <a:solidFill>
                  <a:srgbClr val="000000"/>
                </a:solidFill>
                <a:latin typeface="Pretendard Regular"/>
                <a:ea typeface="Pretendard Regular"/>
                <a:cs typeface="Pretendard Regular"/>
              </a:rPr>
              <a:t>- 실시간 맞춤형 피드백 제공</a:t>
            </a:r>
          </a:p>
          <a:p>
            <a:pPr algn="ctr" lvl="0">
              <a:lnSpc>
                <a:spcPct val="116199"/>
              </a:lnSpc>
            </a:pPr>
            <a:r>
              <a:rPr lang="en-US" sz="2800" b="false" i="false" u="none" strike="noStrike">
                <a:solidFill>
                  <a:srgbClr val="000000"/>
                </a:solidFill>
                <a:latin typeface="Pretendard Regular"/>
                <a:ea typeface="Pretendard Regular"/>
                <a:cs typeface="Pretendard Regular"/>
              </a:rPr>
              <a:t>- 반복 학습을 통한 역량 강화</a:t>
            </a:r>
          </a:p>
          <a:p>
            <a:pPr algn="ctr" lvl="0">
              <a:lnSpc>
                <a:spcPct val="116199"/>
              </a:lnSpc>
            </a:pPr>
            <a:r>
              <a:rPr lang="en-US" sz="2800" b="false" i="false" u="none" strike="noStrike">
                <a:solidFill>
                  <a:srgbClr val="000000"/>
                </a:solidFill>
                <a:latin typeface="Pretendard Regular"/>
                <a:ea typeface="Pretendard Regular"/>
                <a:cs typeface="Pretendard Regular"/>
              </a:rPr>
              <a:t>- 개인별 학습 이력 관리</a:t>
            </a:r>
          </a:p>
        </p:txBody>
      </p:sp>
    </p:spTree>
  </p:cSld>
  <p:clrMapOvr>
    <a:masterClrMapping/>
  </p:clrMapOvr>
</p:sld>
</file>

<file path=ppt/slides/slide6.xml><?xml version="1.0" encoding="utf-8"?>
<p:sld xmlns:p="http://schemas.openxmlformats.org/presentationml/2006/main" xmlns:a="http://schemas.openxmlformats.org/drawingml/2006/main">
  <p:cSld>
    <p:bg xmlns:r="http://schemas.openxmlformats.org/officeDocument/2006/relationships">
      <p:bgPr>
        <a:solidFill>
          <a:srgbClr val="FFFFFF"/>
        </a:solidFill>
      </p:bgPr>
    </p:bg>
    <p:spTree xmlns:r="http://schemas.openxmlformats.org/officeDocument/2006/relationships">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4419600" y="3289300"/>
            <a:ext cx="19075400" cy="1993900"/>
          </a:xfrm>
          <a:prstGeom prst="rect">
            <a:avLst/>
          </a:prstGeom>
        </p:spPr>
      </p:pic>
      <p:sp>
        <p:nvSpPr>
          <p:cNvPr name="TextBox 3" id="3"/>
          <p:cNvSpPr txBox="true"/>
          <p:nvPr/>
        </p:nvSpPr>
        <p:spPr>
          <a:xfrm rot="0">
            <a:off x="10845800" y="5702300"/>
            <a:ext cx="12738100" cy="1498600"/>
          </a:xfrm>
          <a:prstGeom prst="rect">
            <a:avLst/>
          </a:prstGeom>
        </p:spPr>
        <p:txBody>
          <a:bodyPr anchor="ctr"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회원 정보 및 로그인 정보 저장</a:t>
            </a:r>
          </a:p>
          <a:p>
            <a:pPr algn="l" lvl="0">
              <a:lnSpc>
                <a:spcPct val="116199"/>
              </a:lnSpc>
            </a:pPr>
            <a:r>
              <a:rPr lang="en-US" sz="2800" b="false" i="false" u="none" strike="noStrike">
                <a:solidFill>
                  <a:srgbClr val="000000"/>
                </a:solidFill>
                <a:latin typeface="Pretendard Regular"/>
                <a:ea typeface="Pretendard Regular"/>
                <a:cs typeface="Pretendard Regular"/>
              </a:rPr>
              <a:t>- 이력서와 자기소개서 업로드 및 저장</a:t>
            </a:r>
          </a:p>
          <a:p>
            <a:pPr algn="l" lvl="0">
              <a:lnSpc>
                <a:spcPct val="116199"/>
              </a:lnSpc>
            </a:pPr>
            <a:r>
              <a:rPr lang="en-US" sz="2800" b="false" i="false" u="none" strike="noStrike">
                <a:solidFill>
                  <a:srgbClr val="000000"/>
                </a:solidFill>
                <a:latin typeface="Pretendard Regular"/>
                <a:ea typeface="Pretendard Regular"/>
                <a:cs typeface="Pretendard Regular"/>
              </a:rPr>
              <a:t>- 문서 분석 결과 활용한 맞춤형 질문 생성</a:t>
            </a:r>
          </a:p>
        </p:txBody>
      </p:sp>
      <p:sp>
        <p:nvSpPr>
          <p:cNvPr name="TextBox 4" id="4"/>
          <p:cNvSpPr txBox="true"/>
          <p:nvPr/>
        </p:nvSpPr>
        <p:spPr>
          <a:xfrm rot="0">
            <a:off x="4381500" y="6197600"/>
            <a:ext cx="6223000" cy="546100"/>
          </a:xfrm>
          <a:prstGeom prst="rect">
            <a:avLst/>
          </a:prstGeom>
        </p:spPr>
        <p:txBody>
          <a:bodyPr anchor="ctr" rtlCol="false" lIns="0" tIns="0" rIns="0" bIns="0"/>
          <a:lstStyle/>
          <a:p>
            <a:pPr algn="ctr" lvl="0">
              <a:lnSpc>
                <a:spcPct val="116199"/>
              </a:lnSpc>
            </a:pPr>
            <a:r>
              <a:rPr lang="en-US" sz="3066" b="false" i="false" u="none" strike="noStrike">
                <a:solidFill>
                  <a:srgbClr val="000000"/>
                </a:solidFill>
                <a:latin typeface="Pretendard Medium"/>
                <a:ea typeface="Pretendard Medium"/>
                <a:cs typeface="Pretendard Medium"/>
              </a:rPr>
              <a:t>사용자 및 문서 관리</a:t>
            </a:r>
          </a:p>
        </p:txBody>
      </p:sp>
      <p:pic>
        <p:nvPicPr>
          <p:cNvPr name="Picture 5" id="5"/>
          <p:cNvPicPr>
            <a:picLocks noChangeAspect="true"/>
          </p:cNvPicPr>
          <p:nvPr/>
        </p:nvPicPr>
        <p:blipFill>
          <a:blip r:embed="rId3"/>
          <a:stretch>
            <a:fillRect/>
          </a:stretch>
        </p:blipFill>
        <p:spPr>
          <a:xfrm rot="0">
            <a:off x="0" y="0"/>
            <a:ext cx="4419600" cy="419100"/>
          </a:xfrm>
          <a:prstGeom prst="rect">
            <a:avLst/>
          </a:prstGeom>
        </p:spPr>
      </p:pic>
      <p:pic>
        <p:nvPicPr>
          <p:cNvPr name="Picture 6" id="6"/>
          <p:cNvPicPr>
            <a:picLocks noChangeAspect="true"/>
          </p:cNvPicPr>
          <p:nvPr/>
        </p:nvPicPr>
        <p:blipFill>
          <a:blip r:embed="rId4"/>
          <a:stretch>
            <a:fillRect/>
          </a:stretch>
        </p:blipFill>
        <p:spPr>
          <a:xfrm rot="0">
            <a:off x="4419600" y="0"/>
            <a:ext cx="19964400" cy="419100"/>
          </a:xfrm>
          <a:prstGeom prst="rect">
            <a:avLst/>
          </a:prstGeom>
        </p:spPr>
      </p:pic>
      <p:pic>
        <p:nvPicPr>
          <p:cNvPr name="Picture 7" id="7"/>
          <p:cNvPicPr>
            <a:picLocks noChangeAspect="true"/>
          </p:cNvPicPr>
          <p:nvPr/>
        </p:nvPicPr>
        <p:blipFill>
          <a:blip r:embed="rId5"/>
          <a:stretch>
            <a:fillRect/>
          </a:stretch>
        </p:blipFill>
        <p:spPr>
          <a:xfrm rot="0">
            <a:off x="4419600" y="1612900"/>
            <a:ext cx="19075400" cy="25400"/>
          </a:xfrm>
          <a:prstGeom prst="rect">
            <a:avLst/>
          </a:prstGeom>
        </p:spPr>
      </p:pic>
      <p:pic>
        <p:nvPicPr>
          <p:cNvPr name="Picture 8" id="8"/>
          <p:cNvPicPr>
            <a:picLocks noChangeAspect="true"/>
          </p:cNvPicPr>
          <p:nvPr/>
        </p:nvPicPr>
        <p:blipFill>
          <a:blip r:embed="rId6"/>
          <a:stretch>
            <a:fillRect/>
          </a:stretch>
        </p:blipFill>
        <p:spPr>
          <a:xfrm rot="0">
            <a:off x="4419600" y="3276600"/>
            <a:ext cx="19075400" cy="25400"/>
          </a:xfrm>
          <a:prstGeom prst="rect">
            <a:avLst/>
          </a:prstGeom>
        </p:spPr>
      </p:pic>
      <p:pic>
        <p:nvPicPr>
          <p:cNvPr name="Picture 9" id="9"/>
          <p:cNvPicPr>
            <a:picLocks noChangeAspect="true"/>
          </p:cNvPicPr>
          <p:nvPr/>
        </p:nvPicPr>
        <p:blipFill>
          <a:blip r:embed="rId6"/>
          <a:stretch>
            <a:fillRect/>
          </a:stretch>
        </p:blipFill>
        <p:spPr>
          <a:xfrm rot="0">
            <a:off x="4419600" y="5295900"/>
            <a:ext cx="19075400" cy="25400"/>
          </a:xfrm>
          <a:prstGeom prst="rect">
            <a:avLst/>
          </a:prstGeom>
        </p:spPr>
      </p:pic>
      <p:pic>
        <p:nvPicPr>
          <p:cNvPr name="Picture 10" id="10"/>
          <p:cNvPicPr>
            <a:picLocks noChangeAspect="true"/>
          </p:cNvPicPr>
          <p:nvPr/>
        </p:nvPicPr>
        <p:blipFill>
          <a:blip r:embed="rId6"/>
          <a:stretch>
            <a:fillRect/>
          </a:stretch>
        </p:blipFill>
        <p:spPr>
          <a:xfrm rot="0">
            <a:off x="4419600" y="7543800"/>
            <a:ext cx="19075400" cy="25400"/>
          </a:xfrm>
          <a:prstGeom prst="rect">
            <a:avLst/>
          </a:prstGeom>
        </p:spPr>
      </p:pic>
      <p:pic>
        <p:nvPicPr>
          <p:cNvPr name="Picture 11" id="11"/>
          <p:cNvPicPr>
            <a:picLocks noChangeAspect="true"/>
          </p:cNvPicPr>
          <p:nvPr/>
        </p:nvPicPr>
        <p:blipFill>
          <a:blip r:embed="rId5"/>
          <a:stretch>
            <a:fillRect/>
          </a:stretch>
        </p:blipFill>
        <p:spPr>
          <a:xfrm rot="0">
            <a:off x="4419600" y="13068300"/>
            <a:ext cx="19075400" cy="25400"/>
          </a:xfrm>
          <a:prstGeom prst="rect">
            <a:avLst/>
          </a:prstGeom>
        </p:spPr>
      </p:pic>
      <p:sp>
        <p:nvSpPr>
          <p:cNvPr name="TextBox 12" id="12"/>
          <p:cNvSpPr txBox="true"/>
          <p:nvPr/>
        </p:nvSpPr>
        <p:spPr>
          <a:xfrm rot="0">
            <a:off x="4762500" y="3479800"/>
            <a:ext cx="18389600" cy="1638300"/>
          </a:xfrm>
          <a:prstGeom prst="rect">
            <a:avLst/>
          </a:prstGeom>
        </p:spPr>
        <p:txBody>
          <a:bodyPr anchor="ctr" rtlCol="false" lIns="0" tIns="0" rIns="0" bIns="0"/>
          <a:lstStyle/>
          <a:p>
            <a:pPr algn="ctr" lvl="0">
              <a:lnSpc>
                <a:spcPct val="116199"/>
              </a:lnSpc>
            </a:pPr>
            <a:r>
              <a:rPr lang="en-US" sz="3066" b="false" i="false" u="none" strike="noStrike">
                <a:solidFill>
                  <a:srgbClr val="000000"/>
                </a:solidFill>
                <a:latin typeface="Pretendard Medium"/>
                <a:ea typeface="Pretendard Medium"/>
                <a:cs typeface="Pretendard Medium"/>
              </a:rPr>
              <a:t>효과적인 면접 연습 서비스 제공을 위해 사용자 정보, 이력서 및 자기소개서, 면접 이력, 질문·답변 데이터, 면접 결과 및 피드백을 체계적으로 관리해야 합니다. 이를 통해 개인별 맞춤형 질문 생성, 면접 내용 복습, 반복 학습 지원이 가능하며, 사용자는 자신의 강점과 개선점을 명확히 파악할 수 있습니다.</a:t>
            </a:r>
          </a:p>
        </p:txBody>
      </p:sp>
      <p:sp>
        <p:nvSpPr>
          <p:cNvPr name="TextBox 13" id="13"/>
          <p:cNvSpPr txBox="true"/>
          <p:nvPr/>
        </p:nvSpPr>
        <p:spPr>
          <a:xfrm rot="0">
            <a:off x="10845800" y="7950200"/>
            <a:ext cx="12738100" cy="1498600"/>
          </a:xfrm>
          <a:prstGeom prst="rect">
            <a:avLst/>
          </a:prstGeom>
        </p:spPr>
        <p:txBody>
          <a:bodyPr anchor="ctr"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면접 진행 날짜 및 내역 저장</a:t>
            </a:r>
          </a:p>
          <a:p>
            <a:pPr algn="l" lvl="0">
              <a:lnSpc>
                <a:spcPct val="116199"/>
              </a:lnSpc>
            </a:pPr>
            <a:r>
              <a:rPr lang="en-US" sz="2800" b="false" i="false" u="none" strike="noStrike">
                <a:solidFill>
                  <a:srgbClr val="000000"/>
                </a:solidFill>
                <a:latin typeface="Pretendard Regular"/>
                <a:ea typeface="Pretendard Regular"/>
                <a:cs typeface="Pretendard Regular"/>
              </a:rPr>
              <a:t>- 생성된 질문과 사용자 답변 기록</a:t>
            </a:r>
          </a:p>
          <a:p>
            <a:pPr algn="l" lvl="0">
              <a:lnSpc>
                <a:spcPct val="116199"/>
              </a:lnSpc>
            </a:pPr>
            <a:r>
              <a:rPr lang="en-US" sz="2800" b="false" i="false" u="none" strike="noStrike">
                <a:solidFill>
                  <a:srgbClr val="000000"/>
                </a:solidFill>
                <a:latin typeface="Pretendard Regular"/>
                <a:ea typeface="Pretendard Regular"/>
                <a:cs typeface="Pretendard Regular"/>
              </a:rPr>
              <a:t>- AI 생성 꼬리질문 데이터 저장 및 복습 활용</a:t>
            </a:r>
          </a:p>
        </p:txBody>
      </p:sp>
      <p:sp>
        <p:nvSpPr>
          <p:cNvPr name="TextBox 14" id="14"/>
          <p:cNvSpPr txBox="true"/>
          <p:nvPr/>
        </p:nvSpPr>
        <p:spPr>
          <a:xfrm rot="0">
            <a:off x="4381500" y="8445500"/>
            <a:ext cx="6223000" cy="546100"/>
          </a:xfrm>
          <a:prstGeom prst="rect">
            <a:avLst/>
          </a:prstGeom>
        </p:spPr>
        <p:txBody>
          <a:bodyPr anchor="ctr" rtlCol="false" lIns="0" tIns="0" rIns="0" bIns="0"/>
          <a:lstStyle/>
          <a:p>
            <a:pPr algn="ctr" lvl="0">
              <a:lnSpc>
                <a:spcPct val="116199"/>
              </a:lnSpc>
            </a:pPr>
            <a:r>
              <a:rPr lang="en-US" sz="3066" b="false" i="false" u="none" strike="noStrike">
                <a:solidFill>
                  <a:srgbClr val="000000"/>
                </a:solidFill>
                <a:latin typeface="Pretendard Medium"/>
                <a:ea typeface="Pretendard Medium"/>
                <a:cs typeface="Pretendard Medium"/>
              </a:rPr>
              <a:t>면접 이력 및 대화 관리</a:t>
            </a:r>
          </a:p>
        </p:txBody>
      </p:sp>
      <p:pic>
        <p:nvPicPr>
          <p:cNvPr name="Picture 15" id="15"/>
          <p:cNvPicPr>
            <a:picLocks noChangeAspect="true"/>
          </p:cNvPicPr>
          <p:nvPr/>
        </p:nvPicPr>
        <p:blipFill>
          <a:blip r:embed="rId6"/>
          <a:stretch>
            <a:fillRect/>
          </a:stretch>
        </p:blipFill>
        <p:spPr>
          <a:xfrm rot="0">
            <a:off x="4419600" y="9791700"/>
            <a:ext cx="19075400" cy="25400"/>
          </a:xfrm>
          <a:prstGeom prst="rect">
            <a:avLst/>
          </a:prstGeom>
        </p:spPr>
      </p:pic>
      <p:sp>
        <p:nvSpPr>
          <p:cNvPr name="TextBox 16" id="16"/>
          <p:cNvSpPr txBox="true"/>
          <p:nvPr/>
        </p:nvSpPr>
        <p:spPr>
          <a:xfrm rot="0">
            <a:off x="10845800" y="10210800"/>
            <a:ext cx="12738100" cy="1498600"/>
          </a:xfrm>
          <a:prstGeom prst="rect">
            <a:avLst/>
          </a:prstGeom>
        </p:spPr>
        <p:txBody>
          <a:bodyPr anchor="ctr" rtlCol="false" lIns="0" tIns="0" rIns="0" bIns="0"/>
          <a:lstStyle/>
          <a:p>
            <a:pPr algn="l" lvl="0">
              <a:lnSpc>
                <a:spcPct val="116199"/>
              </a:lnSpc>
            </a:pPr>
            <a:r>
              <a:rPr lang="en-US" sz="2800" b="false" i="false" u="none" strike="noStrike">
                <a:solidFill>
                  <a:srgbClr val="000000"/>
                </a:solidFill>
                <a:latin typeface="Pretendard Regular"/>
                <a:ea typeface="Pretendard Regular"/>
                <a:cs typeface="Pretendard Regular"/>
              </a:rPr>
              <a:t>- 면접 종료 후 AI 피드백 저장</a:t>
            </a:r>
          </a:p>
          <a:p>
            <a:pPr algn="l" lvl="0">
              <a:lnSpc>
                <a:spcPct val="116199"/>
              </a:lnSpc>
            </a:pPr>
            <a:r>
              <a:rPr lang="en-US" sz="2800" b="false" i="false" u="none" strike="noStrike">
                <a:solidFill>
                  <a:srgbClr val="000000"/>
                </a:solidFill>
                <a:latin typeface="Pretendard Regular"/>
                <a:ea typeface="Pretendard Regular"/>
                <a:cs typeface="Pretendard Regular"/>
              </a:rPr>
              <a:t>- 평가 결과 및 개선점 제시</a:t>
            </a:r>
          </a:p>
          <a:p>
            <a:pPr algn="l" lvl="0">
              <a:lnSpc>
                <a:spcPct val="116199"/>
              </a:lnSpc>
            </a:pPr>
            <a:r>
              <a:rPr lang="en-US" sz="2800" b="false" i="false" u="none" strike="noStrike">
                <a:solidFill>
                  <a:srgbClr val="000000"/>
                </a:solidFill>
                <a:latin typeface="Pretendard Regular"/>
                <a:ea typeface="Pretendard Regular"/>
                <a:cs typeface="Pretendard Regular"/>
              </a:rPr>
              <a:t>- 사용자 강점 분석 및 학습 이력 관리</a:t>
            </a:r>
          </a:p>
        </p:txBody>
      </p:sp>
      <p:sp>
        <p:nvSpPr>
          <p:cNvPr name="TextBox 17" id="17"/>
          <p:cNvSpPr txBox="true"/>
          <p:nvPr/>
        </p:nvSpPr>
        <p:spPr>
          <a:xfrm rot="0">
            <a:off x="4381500" y="10693400"/>
            <a:ext cx="6223000" cy="546100"/>
          </a:xfrm>
          <a:prstGeom prst="rect">
            <a:avLst/>
          </a:prstGeom>
        </p:spPr>
        <p:txBody>
          <a:bodyPr anchor="ctr" rtlCol="false" lIns="0" tIns="0" rIns="0" bIns="0"/>
          <a:lstStyle/>
          <a:p>
            <a:pPr algn="ctr" lvl="0">
              <a:lnSpc>
                <a:spcPct val="116199"/>
              </a:lnSpc>
            </a:pPr>
            <a:r>
              <a:rPr lang="en-US" sz="3066" b="false" i="false" u="none" strike="noStrike">
                <a:solidFill>
                  <a:srgbClr val="000000"/>
                </a:solidFill>
                <a:latin typeface="Pretendard Medium"/>
                <a:ea typeface="Pretendard Medium"/>
                <a:cs typeface="Pretendard Medium"/>
              </a:rPr>
              <a:t>결과 및 피드백 관리</a:t>
            </a:r>
          </a:p>
        </p:txBody>
      </p:sp>
      <p:pic>
        <p:nvPicPr>
          <p:cNvPr name="Picture 18" id="18"/>
          <p:cNvPicPr>
            <a:picLocks noChangeAspect="true"/>
          </p:cNvPicPr>
          <p:nvPr/>
        </p:nvPicPr>
        <p:blipFill>
          <a:blip r:embed="rId6"/>
          <a:stretch>
            <a:fillRect/>
          </a:stretch>
        </p:blipFill>
        <p:spPr>
          <a:xfrm rot="0">
            <a:off x="4419600" y="12052300"/>
            <a:ext cx="19075400" cy="25400"/>
          </a:xfrm>
          <a:prstGeom prst="rect">
            <a:avLst/>
          </a:prstGeom>
        </p:spPr>
      </p:pic>
      <p:sp>
        <p:nvSpPr>
          <p:cNvPr name="TextBox 19" id="19"/>
          <p:cNvSpPr txBox="true"/>
          <p:nvPr/>
        </p:nvSpPr>
        <p:spPr>
          <a:xfrm rot="0">
            <a:off x="927100" y="1625600"/>
            <a:ext cx="3365500" cy="1803400"/>
          </a:xfrm>
          <a:prstGeom prst="rect">
            <a:avLst/>
          </a:prstGeom>
        </p:spPr>
        <p:txBody>
          <a:bodyPr anchor="t" rtlCol="false" lIns="0" tIns="69427" rIns="0" bIns="0"/>
          <a:lstStyle/>
          <a:p>
            <a:pPr algn="l" lvl="0">
              <a:lnSpc>
                <a:spcPct val="99600"/>
              </a:lnSpc>
            </a:pPr>
            <a:r>
              <a:rPr lang="en-US" sz="5466" b="false" i="false" u="none" strike="noStrike">
                <a:solidFill>
                  <a:srgbClr val="0063BA"/>
                </a:solidFill>
                <a:latin typeface="Pretendard Bold"/>
                <a:ea typeface="Pretendard Bold"/>
                <a:cs typeface="Pretendard Bold"/>
              </a:rPr>
              <a:t>DB 요구사항 분석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