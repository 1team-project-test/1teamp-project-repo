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24384000" cy="13716000"/>
  <p:notesSz cx="6858000" cy="9144000"/>
  <p:embeddedFontLst>
    <p:embeddedFont>
      <p:font typeface="Pretendard Bold" panose="020B0600000101010101" charset="-127"/>
      <p:bold r:id="rId18"/>
    </p:embeddedFont>
    <p:embeddedFont>
      <p:font typeface="Pretendard Light" panose="020B0600000101010101" charset="-127"/>
      <p:regular r:id="rId19"/>
    </p:embeddedFont>
    <p:embeddedFont>
      <p:font typeface="Pretendard Medium" panose="020B0600000101010101" charset="-127"/>
      <p:bold r:id="rId20"/>
    </p:embeddedFont>
    <p:embeddedFont>
      <p:font typeface="Pretendard Regular" panose="020B0600000101010101" charset="-127"/>
      <p:regular r:id="rId21"/>
    </p:embeddedFont>
    <p:embeddedFont>
      <p:font typeface="Pretendard SemiBold" panose="020B0600000101010101" charset="-127"/>
      <p:bold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654" y="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64E50-15F6-4ED9-B24E-169C27C0F5F9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28B42-61A0-4603-9423-86DC51E918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28B42-61A0-4603-9423-86DC51E9184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907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28B42-61A0-4603-9423-86DC51E9184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49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4800" y="5372100"/>
            <a:ext cx="21056600" cy="2133600"/>
          </a:xfrm>
          <a:prstGeom prst="rect">
            <a:avLst/>
          </a:prstGeom>
        </p:spPr>
        <p:txBody>
          <a:bodyPr lIns="0" tIns="152400" rIns="0" bIns="152400" rtlCol="0" anchor="ctr"/>
          <a:lstStyle/>
          <a:p>
            <a:pPr lvl="0" algn="ctr">
              <a:lnSpc>
                <a:spcPct val="99600"/>
              </a:lnSpc>
            </a:pP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면접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꼬리질문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챗봇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개발</a:t>
            </a:r>
            <a:r>
              <a:rPr lang="en-US" sz="120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120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프로젝트</a:t>
            </a:r>
            <a:endParaRPr lang="en-US" sz="120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52600" y="8648700"/>
            <a:ext cx="20726400" cy="571500"/>
          </a:xfrm>
          <a:prstGeom prst="rect">
            <a:avLst/>
          </a:prstGeom>
        </p:spPr>
        <p:txBody>
          <a:bodyPr lIns="0" tIns="4064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생성형 AI 기반 맞춤형 면접 연습 서비스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2776200"/>
            <a:ext cx="225425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021DD07-541D-E626-6DAE-2583073C35DC}"/>
              </a:ext>
            </a:extLst>
          </p:cNvPr>
          <p:cNvSpPr txBox="1"/>
          <p:nvPr/>
        </p:nvSpPr>
        <p:spPr>
          <a:xfrm>
            <a:off x="927100" y="736600"/>
            <a:ext cx="44196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4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목차</a:t>
            </a:r>
            <a:endParaRPr lang="en-US" sz="54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213480" y="3655527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기업의 꼬리질문 중심 심층 면접 강화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취업 준비생의 연습 환경 부족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생성형 AI 활용 서비스 개발 필요성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8080" y="2550627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주제 선정 배경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3380" y="2550627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3480" y="7643327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면접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대응력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향상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TTS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음성과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키보드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타이핑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방식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실시간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피드백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제공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13480" y="6551127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기대 효과 및 차별점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8780" y="6551127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43833" y="3619500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ChatGPT의 대화 맥락 기억 메커니즘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사람인 AI 모의 면접의 맞춤형 질문 설계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리포트 시스템 분석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18433" y="2514600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벤치마킹 사례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43733" y="2501900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43833" y="7620000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사용자 정보 및 문서 관리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면접 이력 및 질문·답변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면접 결과 및 피드백 관리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43833" y="6502400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DB 요구사항 분석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56433" y="6502400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2394899D-32BC-1208-FDA6-74C3E3C20764}"/>
              </a:ext>
            </a:extLst>
          </p:cNvPr>
          <p:cNvSpPr txBox="1"/>
          <p:nvPr/>
        </p:nvSpPr>
        <p:spPr>
          <a:xfrm>
            <a:off x="5252617" y="11364427"/>
            <a:ext cx="7442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시작 화면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면접 설정</a:t>
            </a:r>
            <a:r>
              <a:rPr lang="en-US" altLang="ko-KR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이력서 추출 화면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면접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결과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및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피드백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2800" dirty="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화면</a:t>
            </a:r>
            <a:endParaRPr lang="en-US" sz="2800" b="0" i="0" u="none" strike="noStrike" dirty="0">
              <a:solidFill>
                <a:srgbClr val="000000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1796C6A1-AE38-113B-5529-65C7389EB7E9}"/>
              </a:ext>
            </a:extLst>
          </p:cNvPr>
          <p:cNvSpPr txBox="1"/>
          <p:nvPr/>
        </p:nvSpPr>
        <p:spPr>
          <a:xfrm>
            <a:off x="5252617" y="10246827"/>
            <a:ext cx="7467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sz="36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4B7772BC-538C-0266-112D-307B6C31A0E5}"/>
              </a:ext>
            </a:extLst>
          </p:cNvPr>
          <p:cNvSpPr txBox="1"/>
          <p:nvPr/>
        </p:nvSpPr>
        <p:spPr>
          <a:xfrm>
            <a:off x="4465217" y="10246827"/>
            <a:ext cx="7366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AACBE9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C452B565-C05E-185F-AF51-0FD14D674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27100" y="736600"/>
            <a:ext cx="44196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4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주제선정</a:t>
            </a:r>
            <a:r>
              <a:rPr lang="en-US" sz="5400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400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배경</a:t>
            </a:r>
            <a:endParaRPr lang="en-US" sz="5400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CB0BE22-932A-F3F0-3580-BECCAE12A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699" y="1752600"/>
            <a:ext cx="16713201" cy="11142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067300" y="9639300"/>
            <a:ext cx="191516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맥락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(Context)을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완벽하게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기억하는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메커니즘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키워드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파악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날카로운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후속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기능을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갖춘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대화형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에이전트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차용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067300" y="8839200"/>
            <a:ext cx="191643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ChatGPT (OpenAI)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67300" y="11252200"/>
            <a:ext cx="19164300" cy="5969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 err="1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사람인</a:t>
            </a:r>
            <a:r>
              <a:rPr lang="en-US" sz="3333" b="0" i="0" u="none" strike="noStrike" dirty="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 AI </a:t>
            </a:r>
            <a:r>
              <a:rPr lang="en-US" sz="3333" b="0" i="0" u="none" strike="noStrike" dirty="0" err="1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모의</a:t>
            </a:r>
            <a:r>
              <a:rPr lang="en-US" sz="3333" b="0" i="0" u="none" strike="noStrike" dirty="0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3333" b="0" i="0" u="none" strike="noStrike" dirty="0" err="1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면접</a:t>
            </a:r>
            <a:endParaRPr lang="en-US" sz="3333" b="0" i="0" u="none" strike="noStrike" dirty="0">
              <a:solidFill>
                <a:srgbClr val="0063B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67300" y="12014200"/>
            <a:ext cx="191516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지원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직무와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자소서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내용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맞춤형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면접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종료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태도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논리성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종합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개선점을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제시하는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리포트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벤치마킹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27100" y="736600"/>
            <a:ext cx="44196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5466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벤치마킹</a:t>
            </a:r>
            <a:r>
              <a:rPr lang="en-US" sz="5466" b="0" i="0" u="none" strike="noStrike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5466" b="0" i="0" u="none" strike="noStrike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사례</a:t>
            </a:r>
            <a:endParaRPr lang="en-US" sz="5466" b="0" i="0" u="none" strike="noStrike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FDED21F4-3856-CA25-2F76-5494FF005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C10850-89B8-35E3-5AD3-E58D36377668}"/>
              </a:ext>
            </a:extLst>
          </p:cNvPr>
          <p:cNvSpPr/>
          <p:nvPr/>
        </p:nvSpPr>
        <p:spPr>
          <a:xfrm>
            <a:off x="5029200" y="1828800"/>
            <a:ext cx="16687800" cy="6825027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9464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2946400"/>
            <a:ext cx="9207500" cy="425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51400" y="34925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4133" b="0" i="0" u="none" strike="noStrike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실전 대응력 향상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6800" y="45720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실제 면접 대응력 강화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논리적 답변 구성 능력 향상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기반 대화형 서비스 개발 경험 확보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맞춤형 연습 환경 제공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9300" y="34925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4133" b="0" i="0" u="none" strike="noStrike">
                <a:solidFill>
                  <a:srgbClr val="0063BA"/>
                </a:solidFill>
                <a:latin typeface="Pretendard SemiBold"/>
                <a:ea typeface="Pretendard SemiBold"/>
                <a:cs typeface="Pretendard SemiBold"/>
              </a:rPr>
              <a:t>접근성 높은 구현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4700" y="45720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챗봇 형태로 구현하여 접근성 극대화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면접관의 생생한 TTS 음성 질문 제공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실전처럼 질문을 받는 연습 가능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언제 어디서나 이용 가능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7810500"/>
            <a:ext cx="9207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0" y="7810500"/>
            <a:ext cx="9207500" cy="4254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51400" y="83566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ko-KR" altLang="en-US" sz="4133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유연한 </a:t>
            </a:r>
            <a:r>
              <a:rPr lang="en-US" sz="4133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답변</a:t>
            </a:r>
            <a:r>
              <a:rPr lang="en-US" sz="4133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133" b="0" i="0" u="none" strike="noStrike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방식</a:t>
            </a:r>
            <a:endParaRPr lang="en-US" sz="4133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876800" y="94361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키보드로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타이핑하여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제출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음성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인식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오류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없는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내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답변에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날카로운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피드백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즉각적인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꼬리질문</a:t>
            </a:r>
            <a:r>
              <a:rPr lang="en-US" sz="28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endParaRPr lang="en-US" sz="28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719300" y="8356600"/>
            <a:ext cx="8343900" cy="736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116199"/>
              </a:lnSpc>
            </a:pPr>
            <a:r>
              <a:rPr lang="en-US" sz="41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차별화된 학습 경험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44700" y="9436100"/>
            <a:ext cx="82931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음성과 텍스트의 장점 결합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실시간 맞춤형 피드백 제공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반복 학습을 통한 역량 강화</a:t>
            </a:r>
          </a:p>
          <a:p>
            <a:pPr lvl="0" algn="ctr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개인별 학습 이력 관리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A1AFFD7E-F443-0568-2647-711A073D7531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기대효과</a:t>
            </a: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및 </a:t>
            </a: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차별점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C25E51AE-56B1-B993-00A8-9706724A0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628900"/>
            <a:ext cx="19075400" cy="2654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845800" y="5702300"/>
            <a:ext cx="127381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회원 정보 및 로그인 정보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이력서와 자기소개서 업로드 및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문서 분석 결과 활용한 맞춤형 질문 생성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1500" y="6197600"/>
            <a:ext cx="62230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641600"/>
            <a:ext cx="190754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5295900"/>
            <a:ext cx="190754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7543800"/>
            <a:ext cx="190754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762500" y="3124200"/>
            <a:ext cx="18389600" cy="163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116199"/>
              </a:lnSpc>
              <a:buFont typeface="Wingdings" panose="05000000000000000000" pitchFamily="2" charset="2"/>
              <a:buChar char="§"/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효과적인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서비스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제공을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위해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이력서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자기소개서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질문·답변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피드백을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체계적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으로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r>
              <a:rPr lang="ko-KR" altLang="en-US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해야 한다</a:t>
            </a:r>
            <a:r>
              <a:rPr lang="en-US" altLang="ko-KR" sz="3066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457200" lvl="0" indent="-457200">
              <a:lnSpc>
                <a:spcPct val="116199"/>
              </a:lnSpc>
              <a:buFont typeface="Wingdings" panose="05000000000000000000" pitchFamily="2" charset="2"/>
              <a:buChar char="§"/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개인별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맞춤형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내용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복습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학습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지원이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가능하며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자신의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개선점을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명확히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파악</a:t>
            </a:r>
            <a:r>
              <a:rPr lang="ko-KR" alt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할 수 있어야 한다</a:t>
            </a:r>
            <a:r>
              <a:rPr lang="en-US" altLang="ko-KR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45800" y="7950200"/>
            <a:ext cx="127381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면접 진행 날짜 및 내역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생성된 질문과 사용자 답변 기록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AI 생성 꼬리질문 데이터 저장 및 복습 활용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1500" y="8445500"/>
            <a:ext cx="62230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면접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이력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대화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9791700"/>
            <a:ext cx="190754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845800" y="10210800"/>
            <a:ext cx="12738100" cy="1498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면접 종료 후 AI 피드백 저장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평가 결과 및 개선점 제시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사용자 강점 분석 및 학습 이력 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1500" y="10693400"/>
            <a:ext cx="6223000" cy="54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피드백</a:t>
            </a:r>
            <a:r>
              <a:rPr lang="en-US" sz="3066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66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066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2052300"/>
            <a:ext cx="19075400" cy="25400"/>
          </a:xfrm>
          <a:prstGeom prst="rect">
            <a:avLst/>
          </a:prstGeom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F17D06EF-A077-5799-C7C0-5309D365A343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요구사항</a:t>
            </a: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5466" dirty="0" err="1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분석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21" name="Picture 7">
            <a:extLst>
              <a:ext uri="{FF2B5EF4-FFF2-40B4-BE49-F238E27FC236}">
                <a16:creationId xmlns:a16="http://schemas.microsoft.com/office/drawing/2014/main" id="{D7E4E993-2BB9-A935-5C16-0D82E0035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5BA00-EEE3-95D4-49C8-9DC9B8C7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8A38A641-A2D3-38E9-EEC9-BC89BE208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0FDC8B7-B866-0396-01D6-FD11E349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934EA5A-DCC9-72AF-CDA0-6C27F6ED0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3EE18A22-B1B8-9E94-8F34-5A1810941415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DB </a:t>
            </a: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모델링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E2FDEAFB-B357-C93A-B7F1-ECD7B3AD0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10FD34-2037-CAA2-FA41-0D8A3F61D1EA}"/>
              </a:ext>
            </a:extLst>
          </p:cNvPr>
          <p:cNvSpPr txBox="1"/>
          <p:nvPr/>
        </p:nvSpPr>
        <p:spPr>
          <a:xfrm>
            <a:off x="4419600" y="1128693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6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개념적 모델링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71669F-9FF5-8D69-C111-12FD92A18B48}"/>
              </a:ext>
            </a:extLst>
          </p:cNvPr>
          <p:cNvSpPr/>
          <p:nvPr/>
        </p:nvSpPr>
        <p:spPr>
          <a:xfrm>
            <a:off x="927100" y="1905000"/>
            <a:ext cx="22771100" cy="1124644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41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C70D-DDBF-062D-3101-8EE7C6AC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D4FBEEF-4605-0540-6F35-84BBB0BC2A87}"/>
              </a:ext>
            </a:extLst>
          </p:cNvPr>
          <p:cNvSpPr/>
          <p:nvPr/>
        </p:nvSpPr>
        <p:spPr>
          <a:xfrm>
            <a:off x="927100" y="1905000"/>
            <a:ext cx="22771100" cy="1124644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F59E02E-D836-6E47-1BDF-06F829094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B58B8AA-F682-E569-05D1-9C2A3855E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DDAE59E-49B3-A5E9-F756-B01C6BD8E7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74F6C1B7-CACC-18A5-EE92-89C3C473437D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DB </a:t>
            </a: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모델링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61043937-8B34-DB55-07F9-DDAF6E5397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22A42-3886-C010-F2C8-626A4E03AC93}"/>
              </a:ext>
            </a:extLst>
          </p:cNvPr>
          <p:cNvSpPr txBox="1"/>
          <p:nvPr/>
        </p:nvSpPr>
        <p:spPr>
          <a:xfrm>
            <a:off x="4419600" y="1128693"/>
            <a:ext cx="2011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>
                    <a:lumMod val="6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물리적 모델링</a:t>
            </a:r>
          </a:p>
        </p:txBody>
      </p:sp>
    </p:spTree>
    <p:extLst>
      <p:ext uri="{BB962C8B-B14F-4D97-AF65-F5344CB8AC3E}">
        <p14:creationId xmlns:p14="http://schemas.microsoft.com/office/powerpoint/2010/main" val="23883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13973-6964-0453-E392-0E03A7F3F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6615344A-B5E7-2282-733E-D57D58A1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1A6B576-E6CB-3A82-B36D-1F0C6AA9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FAE7360-C3A8-C3FE-2517-E4BBCA606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C04F9-2342-AE33-7B62-9F3995812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649" y="2832100"/>
            <a:ext cx="18529301" cy="89850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B69A5A-785D-DBAF-3164-B2828FA3FF0E}"/>
              </a:ext>
            </a:extLst>
          </p:cNvPr>
          <p:cNvSpPr txBox="1"/>
          <p:nvPr/>
        </p:nvSpPr>
        <p:spPr>
          <a:xfrm>
            <a:off x="4692649" y="1924259"/>
            <a:ext cx="163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시작 화면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F054252B-A2ED-A86B-0413-AA400160A74B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D6908-6313-C138-50C2-1280997F3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10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732B-4FE8-98CD-8B8F-4DA8B5F9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22BCDC2-A6F6-9E09-2892-1E66AB6D4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48" y="2832099"/>
            <a:ext cx="18529301" cy="8959641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9294EB6-25B5-9D32-6632-4422D969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D2C943B-7F13-FEAB-DD34-0311B3101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1CE571E-079D-44BE-72CE-B44433EFB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A0D41A-9E8A-B73F-7393-4ADEF365844D}"/>
              </a:ext>
            </a:extLst>
          </p:cNvPr>
          <p:cNvSpPr txBox="1"/>
          <p:nvPr/>
        </p:nvSpPr>
        <p:spPr>
          <a:xfrm>
            <a:off x="4692649" y="1924259"/>
            <a:ext cx="1631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설정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22E4BA5D-2094-3EA5-7A76-668D17603872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1F69F12-1C90-C666-3D18-CEB0F0A6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5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F2475-AC30-AB4F-5796-51DE2AC4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8E3C0B2-9461-9BE3-B6F5-92053428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191" y="2851592"/>
            <a:ext cx="18525757" cy="891474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15D549E-FE5C-4A54-65C9-3FE37426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12D8F59-E369-0E75-C52D-53D3EC4AC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940C0904-641D-D22D-93F7-0EBA9BFAE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8C0E05-F048-C168-36F1-8F3DB087E2BF}"/>
              </a:ext>
            </a:extLst>
          </p:cNvPr>
          <p:cNvSpPr txBox="1"/>
          <p:nvPr/>
        </p:nvSpPr>
        <p:spPr>
          <a:xfrm>
            <a:off x="4692649" y="1924259"/>
            <a:ext cx="2393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이력서 추출 설정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A1E8A3B0-89EB-54F6-32C9-D97C1CD9AB33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1740B10-C770-1109-8744-553CFDDB8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34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C1EE2-5423-98F9-C28C-570FE72D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4976BF5-56EE-5B8A-5730-3291E31AF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963" y="2851592"/>
            <a:ext cx="18523985" cy="891474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8A07F71-E4D5-841E-916D-FD27A650A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06E77E7-F684-42B3-4540-EFF17480D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914CE4BF-6A6D-55E8-AF14-D61D42BD0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15C6D5-36E8-922B-B586-950F1B2DD7BC}"/>
              </a:ext>
            </a:extLst>
          </p:cNvPr>
          <p:cNvSpPr txBox="1"/>
          <p:nvPr/>
        </p:nvSpPr>
        <p:spPr>
          <a:xfrm>
            <a:off x="4692649" y="1924259"/>
            <a:ext cx="2089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Bold" panose="020B0600000101010101" charset="-127"/>
                <a:ea typeface="Pretendard Bold" panose="020B0600000101010101" charset="-127"/>
              </a:rPr>
              <a:t>면접 메인 화면</a:t>
            </a:r>
            <a:endParaRPr lang="ko-KR" altLang="en-US" sz="2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B3AD8726-D9CD-5736-19E3-B720F0199C19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70D7F43-C7A4-690A-4497-AFD6670A6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60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2AB24-27D3-D92A-2F7B-A5667634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79C813-A6C7-6D43-4DFD-231D8916A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963" y="2851592"/>
            <a:ext cx="18523985" cy="891474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6E958DA-5F26-5C1A-876C-9D38E2FDC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00F4F9E-89C4-F433-E0C5-56609683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50B5BE2-E67E-4C71-7CA9-AE6E31A85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E7166-6DF8-8405-0B88-CA61EB4FC197}"/>
              </a:ext>
            </a:extLst>
          </p:cNvPr>
          <p:cNvSpPr txBox="1"/>
          <p:nvPr/>
        </p:nvSpPr>
        <p:spPr>
          <a:xfrm>
            <a:off x="4692649" y="1924259"/>
            <a:ext cx="21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결과 </a:t>
            </a:r>
            <a:r>
              <a:rPr lang="en-US" altLang="ko-KR" sz="2400" dirty="0">
                <a:latin typeface="Pretendard Bold" panose="020B0600000101010101" charset="-127"/>
                <a:ea typeface="Pretendard Bold" panose="020B0600000101010101" charset="-127"/>
              </a:rPr>
              <a:t>1</a:t>
            </a:r>
            <a:endParaRPr lang="ko-KR" altLang="en-US" sz="2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7158A122-5D5A-A7FB-D539-936D5EF77D65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023398A-D395-8239-32A3-7BDC5665E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75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1AFA1-7D8F-BC0A-AE2E-2458179A0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D769357-A41D-3F7F-8CB1-CE0666D0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140" y="2832100"/>
            <a:ext cx="18509808" cy="893424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098C156-D56A-A28E-CB84-931D4C8FF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D9BE193-96B1-3B14-4859-EF69CF0E2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94CE770-0263-2AD5-768B-1B973F391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0FE80D-56C7-6590-38CD-B7F5B1209307}"/>
              </a:ext>
            </a:extLst>
          </p:cNvPr>
          <p:cNvSpPr txBox="1"/>
          <p:nvPr/>
        </p:nvSpPr>
        <p:spPr>
          <a:xfrm>
            <a:off x="4692649" y="1924259"/>
            <a:ext cx="21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결과 </a:t>
            </a:r>
            <a:r>
              <a:rPr lang="en-US" altLang="ko-KR" sz="2400" dirty="0">
                <a:latin typeface="Pretendard Bold" panose="020B0600000101010101" charset="-127"/>
                <a:ea typeface="Pretendard Bold" panose="020B0600000101010101" charset="-127"/>
              </a:rPr>
              <a:t>2</a:t>
            </a:r>
            <a:endParaRPr lang="ko-KR" altLang="en-US" sz="2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636C4EC-29E8-D359-80C7-91A105AB20DC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20195FF8-16BB-584E-0423-59189172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8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C454E-5423-BAC1-21DE-2F03235F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F3817CC1-F5D4-3DE7-65AF-1F0DA2471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A064A3B-F52C-3944-558C-4719ED7FA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A6BF17F3-DF67-7B66-08EE-E2B06D093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87A81BC-05BA-F773-7113-62A9EF67A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3806825"/>
            <a:ext cx="18509808" cy="3162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9ED4EF-B892-E0D4-256A-DFA4510792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7567" y="7832725"/>
            <a:ext cx="18520441" cy="3067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7BD5E4-989D-303C-D512-DB2089C1799B}"/>
              </a:ext>
            </a:extLst>
          </p:cNvPr>
          <p:cNvSpPr txBox="1"/>
          <p:nvPr/>
        </p:nvSpPr>
        <p:spPr>
          <a:xfrm>
            <a:off x="4692649" y="1924259"/>
            <a:ext cx="2165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Bold" panose="020B0600000101010101" charset="-127"/>
                <a:ea typeface="Pretendard Bold" panose="020B0600000101010101" charset="-127"/>
              </a:rPr>
              <a:t>면접 피드백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31F600F6-D9B9-1C69-A2D5-84A42EEAA90D}"/>
              </a:ext>
            </a:extLst>
          </p:cNvPr>
          <p:cNvSpPr txBox="1"/>
          <p:nvPr/>
        </p:nvSpPr>
        <p:spPr>
          <a:xfrm>
            <a:off x="927100" y="736600"/>
            <a:ext cx="5473700" cy="1803400"/>
          </a:xfrm>
          <a:prstGeom prst="rect">
            <a:avLst/>
          </a:prstGeom>
        </p:spPr>
        <p:txBody>
          <a:bodyPr lIns="0" tIns="69427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5466" dirty="0">
                <a:solidFill>
                  <a:srgbClr val="0063BA"/>
                </a:solidFill>
                <a:latin typeface="Pretendard Bold"/>
                <a:ea typeface="Pretendard Bold"/>
                <a:cs typeface="Pretendard Bold"/>
              </a:rPr>
              <a:t>구현 예정</a:t>
            </a:r>
            <a:endParaRPr lang="en-US" altLang="ko-KR" sz="5466" dirty="0">
              <a:solidFill>
                <a:srgbClr val="0063BA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03B2863-1EDC-6CCA-952E-1D072B5E4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" y="1612901"/>
            <a:ext cx="23400000" cy="3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9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476</Words>
  <Application>Microsoft Office PowerPoint</Application>
  <PresentationFormat>사용자 지정</PresentationFormat>
  <Paragraphs>92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Pretendard Light</vt:lpstr>
      <vt:lpstr>Wingdings</vt:lpstr>
      <vt:lpstr>Pretendard Bold</vt:lpstr>
      <vt:lpstr>Arial</vt:lpstr>
      <vt:lpstr>Pretendard SemiBold</vt:lpstr>
      <vt:lpstr>Pretendard Regular</vt:lpstr>
      <vt:lpstr>맑은 고딕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user</cp:lastModifiedBy>
  <cp:revision>12</cp:revision>
  <dcterms:created xsi:type="dcterms:W3CDTF">2006-08-16T00:00:00Z</dcterms:created>
  <dcterms:modified xsi:type="dcterms:W3CDTF">2026-06-10T06:16:48Z</dcterms:modified>
</cp:coreProperties>
</file>